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5" r:id="rId6"/>
    <p:sldId id="259" r:id="rId7"/>
    <p:sldId id="264" r:id="rId8"/>
    <p:sldId id="271" r:id="rId9"/>
    <p:sldId id="279" r:id="rId10"/>
    <p:sldId id="267" r:id="rId11"/>
    <p:sldId id="266" r:id="rId12"/>
    <p:sldId id="275" r:id="rId13"/>
    <p:sldId id="269" r:id="rId14"/>
    <p:sldId id="273" r:id="rId15"/>
    <p:sldId id="268" r:id="rId16"/>
    <p:sldId id="274" r:id="rId17"/>
    <p:sldId id="272" r:id="rId18"/>
    <p:sldId id="276" r:id="rId19"/>
    <p:sldId id="262" r:id="rId20"/>
    <p:sldId id="263" r:id="rId21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762" autoAdjust="0"/>
    <p:restoredTop sz="94660"/>
  </p:normalViewPr>
  <p:slideViewPr>
    <p:cSldViewPr snapToGrid="0">
      <p:cViewPr varScale="1">
        <p:scale>
          <a:sx n="92" d="100"/>
          <a:sy n="92" d="100"/>
        </p:scale>
        <p:origin x="318" y="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08/12/2015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57754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08/12/2015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994883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08/12/2015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6408779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08/12/2015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03788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08/12/2015</a:t>
            </a:fld>
            <a:endParaRPr lang="es-PE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34000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08/12/2015</a:t>
            </a:fld>
            <a:endParaRPr lang="es-PE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9501409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08/12/2015</a:t>
            </a:fld>
            <a:endParaRPr lang="es-PE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89047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08/12/2015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893473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08/12/2015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2381485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08/12/2015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55069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08/12/2015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160570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D66D49-C998-4448-A9A4-08248D17FD06}" type="datetimeFigureOut">
              <a:rPr lang="es-PE" smtClean="0"/>
              <a:t>08/12/2015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6600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jp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PE" dirty="0" smtClean="0"/>
              <a:t>Telelocalización y Captura de Imágenes</a:t>
            </a:r>
            <a:endParaRPr lang="es-PE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s-PE" sz="3600" dirty="0" smtClean="0"/>
              <a:t>Para Mejorar una Base de Datos Criminalística del Robo de Vehículos en la Ciudad de Lima</a:t>
            </a:r>
            <a:endParaRPr lang="es-PE" sz="3600" dirty="0"/>
          </a:p>
        </p:txBody>
      </p:sp>
    </p:spTree>
    <p:extLst>
      <p:ext uri="{BB962C8B-B14F-4D97-AF65-F5344CB8AC3E}">
        <p14:creationId xmlns:p14="http://schemas.microsoft.com/office/powerpoint/2010/main" val="40650887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b="1" dirty="0" smtClean="0">
                <a:solidFill>
                  <a:srgbClr val="00B050"/>
                </a:solidFill>
              </a:rPr>
              <a:t>Telelocalización</a:t>
            </a:r>
            <a:r>
              <a:rPr lang="es-PE" dirty="0" smtClean="0"/>
              <a:t> y</a:t>
            </a:r>
            <a:br>
              <a:rPr lang="es-PE" dirty="0" smtClean="0"/>
            </a:br>
            <a:r>
              <a:rPr lang="es-PE" dirty="0" smtClean="0"/>
              <a:t>Captura de Imágenes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1908753"/>
            <a:ext cx="10515600" cy="4351338"/>
          </a:xfrm>
        </p:spPr>
        <p:txBody>
          <a:bodyPr/>
          <a:lstStyle/>
          <a:p>
            <a:endParaRPr lang="es-PE" dirty="0" smtClean="0"/>
          </a:p>
          <a:p>
            <a:r>
              <a:rPr lang="es-PE" dirty="0" smtClean="0"/>
              <a:t>Localización remota en tiempo real</a:t>
            </a:r>
          </a:p>
          <a:p>
            <a:r>
              <a:rPr lang="es-PE" dirty="0" smtClean="0"/>
              <a:t>Basado en sistemas GPS y GSM</a:t>
            </a:r>
          </a:p>
          <a:p>
            <a:r>
              <a:rPr lang="es-PE" dirty="0" smtClean="0"/>
              <a:t>Uso de modem inalámbricos para la transmisión</a:t>
            </a:r>
          </a:p>
          <a:p>
            <a:r>
              <a:rPr lang="es-PE" dirty="0" smtClean="0"/>
              <a:t>Movilidad y comunicación</a:t>
            </a:r>
          </a:p>
          <a:p>
            <a:r>
              <a:rPr lang="es-PE" dirty="0" smtClean="0"/>
              <a:t>Enfocado a automóviles</a:t>
            </a:r>
          </a:p>
          <a:p>
            <a:pPr marL="0" indent="0">
              <a:buNone/>
            </a:pPr>
            <a:endParaRPr lang="es-PE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6385" y="4084422"/>
            <a:ext cx="3944389" cy="2366094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288" b="21052"/>
          <a:stretch/>
        </p:blipFill>
        <p:spPr>
          <a:xfrm>
            <a:off x="6646718" y="5023429"/>
            <a:ext cx="2438400" cy="1454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8971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dirty="0" smtClean="0"/>
              <a:t>Telelocalización y</a:t>
            </a:r>
            <a:br>
              <a:rPr lang="es-PE" dirty="0" smtClean="0"/>
            </a:br>
            <a:r>
              <a:rPr lang="es-PE" b="1" dirty="0" smtClean="0">
                <a:solidFill>
                  <a:srgbClr val="0070C0"/>
                </a:solidFill>
              </a:rPr>
              <a:t>Captura de Imágenes</a:t>
            </a:r>
            <a:endParaRPr lang="es-PE" b="1" dirty="0">
              <a:solidFill>
                <a:srgbClr val="0070C0"/>
              </a:solidFill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PE" dirty="0" smtClean="0"/>
          </a:p>
          <a:p>
            <a:r>
              <a:rPr lang="es-PE" dirty="0" smtClean="0"/>
              <a:t>Fotos del interior o exterior del automóvil</a:t>
            </a:r>
          </a:p>
          <a:p>
            <a:r>
              <a:rPr lang="es-PE" dirty="0" smtClean="0"/>
              <a:t>Uso de cámaras </a:t>
            </a:r>
            <a:r>
              <a:rPr lang="es-PE" dirty="0" err="1" smtClean="0"/>
              <a:t>infrarojas</a:t>
            </a:r>
            <a:endParaRPr lang="es-PE" dirty="0" smtClean="0"/>
          </a:p>
          <a:p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586025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b="1" dirty="0" smtClean="0"/>
              <a:t>OBJETIVOS</a:t>
            </a:r>
            <a:endParaRPr lang="es-PE" b="1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4306120" y="2192482"/>
            <a:ext cx="2576946" cy="1063048"/>
          </a:xfrm>
        </p:spPr>
        <p:txBody>
          <a:bodyPr>
            <a:noAutofit/>
          </a:bodyPr>
          <a:lstStyle/>
          <a:p>
            <a:r>
              <a:rPr lang="es-PE" sz="3200" dirty="0" smtClean="0"/>
              <a:t>Desarrollar un prototipo</a:t>
            </a:r>
            <a:endParaRPr lang="es-PE" sz="3200" dirty="0"/>
          </a:p>
        </p:txBody>
      </p:sp>
      <p:sp>
        <p:nvSpPr>
          <p:cNvPr id="4" name="Marcador de contenido 2"/>
          <p:cNvSpPr txBox="1">
            <a:spLocks/>
          </p:cNvSpPr>
          <p:nvPr/>
        </p:nvSpPr>
        <p:spPr>
          <a:xfrm>
            <a:off x="838198" y="3026782"/>
            <a:ext cx="3089563" cy="13863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PE" sz="3200" dirty="0" smtClean="0">
                <a:solidFill>
                  <a:srgbClr val="00B050"/>
                </a:solidFill>
              </a:rPr>
              <a:t>Telelocalización</a:t>
            </a:r>
            <a:r>
              <a:rPr lang="es-PE" sz="3200" dirty="0" smtClean="0"/>
              <a:t> y </a:t>
            </a:r>
            <a:r>
              <a:rPr lang="es-PE" sz="3200" dirty="0" smtClean="0">
                <a:solidFill>
                  <a:srgbClr val="0070C0"/>
                </a:solidFill>
              </a:rPr>
              <a:t>Captura de Imágenes</a:t>
            </a:r>
            <a:endParaRPr lang="es-PE" sz="3200" dirty="0">
              <a:solidFill>
                <a:srgbClr val="0070C0"/>
              </a:solidFill>
            </a:endParaRPr>
          </a:p>
        </p:txBody>
      </p:sp>
      <p:sp>
        <p:nvSpPr>
          <p:cNvPr id="5" name="Marcador de contenido 2"/>
          <p:cNvSpPr txBox="1">
            <a:spLocks/>
          </p:cNvSpPr>
          <p:nvPr/>
        </p:nvSpPr>
        <p:spPr>
          <a:xfrm>
            <a:off x="4338309" y="4402776"/>
            <a:ext cx="2757879" cy="7928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 sz="3200" dirty="0" smtClean="0"/>
              <a:t>Implementar un servidor</a:t>
            </a:r>
            <a:endParaRPr lang="es-PE" sz="3200" dirty="0"/>
          </a:p>
        </p:txBody>
      </p:sp>
      <p:cxnSp>
        <p:nvCxnSpPr>
          <p:cNvPr id="7" name="Conector recto 6"/>
          <p:cNvCxnSpPr/>
          <p:nvPr/>
        </p:nvCxnSpPr>
        <p:spPr>
          <a:xfrm>
            <a:off x="4123707" y="2182089"/>
            <a:ext cx="0" cy="3075709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lecha derecha 8"/>
          <p:cNvSpPr/>
          <p:nvPr/>
        </p:nvSpPr>
        <p:spPr>
          <a:xfrm rot="2464850">
            <a:off x="7191662" y="2514371"/>
            <a:ext cx="910935" cy="602793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2" name="Marcador de contenido 2"/>
          <p:cNvSpPr txBox="1">
            <a:spLocks/>
          </p:cNvSpPr>
          <p:nvPr/>
        </p:nvSpPr>
        <p:spPr>
          <a:xfrm>
            <a:off x="7975388" y="2940584"/>
            <a:ext cx="3491285" cy="1558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PE" dirty="0" smtClean="0"/>
              <a:t>Incrementar una base de datos criminalística del robo de vehículos</a:t>
            </a:r>
            <a:endParaRPr lang="es-PE" dirty="0"/>
          </a:p>
        </p:txBody>
      </p:sp>
      <p:sp>
        <p:nvSpPr>
          <p:cNvPr id="13" name="Flecha derecha 8"/>
          <p:cNvSpPr/>
          <p:nvPr/>
        </p:nvSpPr>
        <p:spPr>
          <a:xfrm rot="19587048">
            <a:off x="7186881" y="4329270"/>
            <a:ext cx="910935" cy="602793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4" name="Marcador de contenido 2"/>
          <p:cNvSpPr txBox="1">
            <a:spLocks/>
          </p:cNvSpPr>
          <p:nvPr/>
        </p:nvSpPr>
        <p:spPr>
          <a:xfrm>
            <a:off x="5309580" y="3454183"/>
            <a:ext cx="449337" cy="53152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PE" sz="4000" b="1" dirty="0" smtClean="0"/>
              <a:t>+</a:t>
            </a:r>
            <a:endParaRPr lang="es-PE" sz="4000" b="1" dirty="0"/>
          </a:p>
        </p:txBody>
      </p:sp>
    </p:spTree>
    <p:extLst>
      <p:ext uri="{BB962C8B-B14F-4D97-AF65-F5344CB8AC3E}">
        <p14:creationId xmlns:p14="http://schemas.microsoft.com/office/powerpoint/2010/main" val="2993153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b="1" dirty="0" smtClean="0"/>
              <a:t>IMPORTANCIA</a:t>
            </a:r>
            <a:endParaRPr lang="es-PE" b="1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2365952"/>
            <a:ext cx="4637809" cy="2538557"/>
          </a:xfrm>
        </p:spPr>
        <p:txBody>
          <a:bodyPr/>
          <a:lstStyle/>
          <a:p>
            <a:pPr marL="0" indent="0" algn="ctr">
              <a:buNone/>
            </a:pPr>
            <a:r>
              <a:rPr lang="es-PE" b="1" dirty="0" smtClean="0"/>
              <a:t>Tecnológica</a:t>
            </a:r>
          </a:p>
          <a:p>
            <a:pPr lvl="1"/>
            <a:r>
              <a:rPr lang="es-PE" dirty="0" smtClean="0"/>
              <a:t>Hardware basado en módulos</a:t>
            </a:r>
          </a:p>
          <a:p>
            <a:pPr lvl="1"/>
            <a:r>
              <a:rPr lang="es-PE" dirty="0" smtClean="0"/>
              <a:t>Servidor básico con almacenamiento de imágenes</a:t>
            </a:r>
            <a:endParaRPr lang="es-PE" dirty="0"/>
          </a:p>
        </p:txBody>
      </p:sp>
      <p:sp>
        <p:nvSpPr>
          <p:cNvPr id="4" name="Marcador de contenido 2"/>
          <p:cNvSpPr txBox="1">
            <a:spLocks/>
          </p:cNvSpPr>
          <p:nvPr/>
        </p:nvSpPr>
        <p:spPr>
          <a:xfrm>
            <a:off x="6012873" y="2365951"/>
            <a:ext cx="4637809" cy="25385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PE" b="1" dirty="0" smtClean="0"/>
              <a:t>Social</a:t>
            </a:r>
          </a:p>
          <a:p>
            <a:pPr lvl="1"/>
            <a:r>
              <a:rPr lang="es-PE" dirty="0" smtClean="0"/>
              <a:t>Ubicar automóviles en caso de robo</a:t>
            </a:r>
          </a:p>
          <a:p>
            <a:pPr lvl="1"/>
            <a:r>
              <a:rPr lang="es-PE" dirty="0" smtClean="0"/>
              <a:t>Fotos del chofer y copiloto</a:t>
            </a:r>
          </a:p>
          <a:p>
            <a:pPr lvl="1"/>
            <a:r>
              <a:rPr lang="es-PE" dirty="0" smtClean="0"/>
              <a:t>Evidencia para las autoridades</a:t>
            </a:r>
          </a:p>
        </p:txBody>
      </p:sp>
    </p:spTree>
    <p:extLst>
      <p:ext uri="{BB962C8B-B14F-4D97-AF65-F5344CB8AC3E}">
        <p14:creationId xmlns:p14="http://schemas.microsoft.com/office/powerpoint/2010/main" val="1784695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b="1" dirty="0" smtClean="0">
                <a:solidFill>
                  <a:srgbClr val="FF0000"/>
                </a:solidFill>
              </a:rPr>
              <a:t>PROBLEMATICA</a:t>
            </a:r>
            <a:endParaRPr lang="es-PE" b="1" dirty="0">
              <a:solidFill>
                <a:srgbClr val="FF0000"/>
              </a:solidFill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PE" dirty="0" smtClean="0"/>
              <a:t>Incremento del robo de automóviles</a:t>
            </a:r>
          </a:p>
          <a:p>
            <a:r>
              <a:rPr lang="es-PE" dirty="0" smtClean="0"/>
              <a:t>20 robos por día</a:t>
            </a:r>
          </a:p>
          <a:p>
            <a:r>
              <a:rPr lang="es-PE" dirty="0" smtClean="0"/>
              <a:t>46% del total de robos a nivel nacional ocurre en Lima</a:t>
            </a:r>
          </a:p>
          <a:p>
            <a:r>
              <a:rPr lang="es-PE" dirty="0" smtClean="0"/>
              <a:t>No existe evidencia</a:t>
            </a:r>
            <a:endParaRPr lang="es-PE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1818" y="4430722"/>
            <a:ext cx="2088572" cy="1912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5801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4939342" y="2066440"/>
            <a:ext cx="5266506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s-PE" sz="4000" dirty="0" smtClean="0"/>
              <a:t>HARDWARE</a:t>
            </a:r>
          </a:p>
          <a:p>
            <a:pPr marL="342900" indent="-342900">
              <a:buAutoNum type="arabicPeriod"/>
            </a:pPr>
            <a:r>
              <a:rPr lang="es-PE" sz="4000" dirty="0" smtClean="0"/>
              <a:t>IMPLEMENTACIÓN</a:t>
            </a:r>
          </a:p>
          <a:p>
            <a:pPr marL="342900" indent="-342900">
              <a:buAutoNum type="arabicPeriod"/>
            </a:pPr>
            <a:r>
              <a:rPr lang="es-PE" sz="4000" dirty="0" smtClean="0"/>
              <a:t>FUNCIONAMIENTO</a:t>
            </a:r>
          </a:p>
          <a:p>
            <a:pPr marL="342900" indent="-342900">
              <a:buAutoNum type="arabicPeriod"/>
            </a:pPr>
            <a:r>
              <a:rPr lang="es-PE" sz="4000" dirty="0" smtClean="0"/>
              <a:t>PRUEBAS</a:t>
            </a:r>
            <a:endParaRPr lang="es-PE" sz="4000" dirty="0"/>
          </a:p>
        </p:txBody>
      </p:sp>
      <p:sp>
        <p:nvSpPr>
          <p:cNvPr id="15" name="14 Rectángulo redondeado"/>
          <p:cNvSpPr/>
          <p:nvPr/>
        </p:nvSpPr>
        <p:spPr>
          <a:xfrm>
            <a:off x="2090057" y="2131754"/>
            <a:ext cx="2539293" cy="242391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 smtClean="0">
                <a:solidFill>
                  <a:srgbClr val="00B050"/>
                </a:solidFill>
              </a:rPr>
              <a:t>Prototipo</a:t>
            </a:r>
          </a:p>
          <a:p>
            <a:pPr algn="ctr"/>
            <a:r>
              <a:rPr lang="es-ES" sz="3600" b="1" dirty="0" smtClean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s-ES" sz="3600" b="1" dirty="0" smtClean="0">
                <a:solidFill>
                  <a:srgbClr val="0070C0"/>
                </a:solidFill>
              </a:rPr>
              <a:t>Servidor</a:t>
            </a:r>
            <a:endParaRPr lang="es-ES" sz="36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36241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6 Rectángulo redondeado"/>
          <p:cNvSpPr/>
          <p:nvPr/>
        </p:nvSpPr>
        <p:spPr>
          <a:xfrm>
            <a:off x="1126680" y="2569997"/>
            <a:ext cx="5551715" cy="3482463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4 Flecha derecha"/>
          <p:cNvSpPr/>
          <p:nvPr/>
        </p:nvSpPr>
        <p:spPr>
          <a:xfrm rot="16200000">
            <a:off x="5825154" y="3813149"/>
            <a:ext cx="3311075" cy="824770"/>
          </a:xfrm>
          <a:prstGeom prst="right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7893076" y="3397526"/>
            <a:ext cx="3841723" cy="2483546"/>
          </a:xfrm>
        </p:spPr>
        <p:txBody>
          <a:bodyPr/>
          <a:lstStyle/>
          <a:p>
            <a:r>
              <a:rPr lang="es-PE" dirty="0" smtClean="0"/>
              <a:t>Diseño MODULAR: Escalable</a:t>
            </a:r>
          </a:p>
          <a:p>
            <a:r>
              <a:rPr lang="es-PE" dirty="0"/>
              <a:t>Permite actualizar cada parte por </a:t>
            </a:r>
            <a:r>
              <a:rPr lang="es-PE" dirty="0" smtClean="0"/>
              <a:t>separado</a:t>
            </a:r>
            <a:endParaRPr lang="es-PE" dirty="0"/>
          </a:p>
        </p:txBody>
      </p:sp>
      <p:sp>
        <p:nvSpPr>
          <p:cNvPr id="4" name="Rectángulo redondeado 3"/>
          <p:cNvSpPr/>
          <p:nvPr/>
        </p:nvSpPr>
        <p:spPr>
          <a:xfrm>
            <a:off x="1780412" y="4812739"/>
            <a:ext cx="2738967" cy="95158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  <a:scene3d>
            <a:camera prst="perspectiveRelaxedModerately"/>
            <a:lightRig rig="threePt" dir="t"/>
          </a:scene3d>
          <a:sp3d extrusionH="63500">
            <a:bevelT w="107950"/>
            <a:bevelB/>
            <a:extrusionClr>
              <a:schemeClr val="bg1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dirty="0" smtClean="0">
                <a:solidFill>
                  <a:schemeClr val="tx1"/>
                </a:solidFill>
              </a:rPr>
              <a:t>PLATAFORMA</a:t>
            </a:r>
          </a:p>
        </p:txBody>
      </p:sp>
      <p:sp>
        <p:nvSpPr>
          <p:cNvPr id="14" name="Rectángulo redondeado 3"/>
          <p:cNvSpPr/>
          <p:nvPr/>
        </p:nvSpPr>
        <p:spPr>
          <a:xfrm>
            <a:off x="2315353" y="4122404"/>
            <a:ext cx="2738967" cy="95158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  <a:scene3d>
            <a:camera prst="perspectiveRelaxedModerately"/>
            <a:lightRig rig="threePt" dir="t"/>
          </a:scene3d>
          <a:sp3d extrusionH="63500">
            <a:bevelT w="107950"/>
            <a:bevelB/>
            <a:extrusionClr>
              <a:schemeClr val="bg1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dirty="0" smtClean="0">
                <a:solidFill>
                  <a:schemeClr val="tx1"/>
                </a:solidFill>
              </a:rPr>
              <a:t>RECEPTOR</a:t>
            </a:r>
          </a:p>
        </p:txBody>
      </p:sp>
      <p:sp>
        <p:nvSpPr>
          <p:cNvPr id="15" name="Rectángulo redondeado 3"/>
          <p:cNvSpPr/>
          <p:nvPr/>
        </p:nvSpPr>
        <p:spPr>
          <a:xfrm>
            <a:off x="2874230" y="3487574"/>
            <a:ext cx="2738967" cy="95158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  <a:scene3d>
            <a:camera prst="perspectiveRelaxedModerately"/>
            <a:lightRig rig="threePt" dir="t"/>
          </a:scene3d>
          <a:sp3d extrusionH="63500">
            <a:bevelT w="107950"/>
            <a:bevelB/>
            <a:extrusionClr>
              <a:schemeClr val="bg1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dirty="0" smtClean="0">
                <a:solidFill>
                  <a:schemeClr val="tx1"/>
                </a:solidFill>
              </a:rPr>
              <a:t>CAMARA</a:t>
            </a:r>
          </a:p>
        </p:txBody>
      </p:sp>
      <p:sp>
        <p:nvSpPr>
          <p:cNvPr id="16" name="Rectángulo redondeado 3"/>
          <p:cNvSpPr/>
          <p:nvPr/>
        </p:nvSpPr>
        <p:spPr>
          <a:xfrm>
            <a:off x="3492796" y="2798208"/>
            <a:ext cx="2738967" cy="95158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  <a:scene3d>
            <a:camera prst="perspectiveRelaxedModerately"/>
            <a:lightRig rig="threePt" dir="t"/>
          </a:scene3d>
          <a:sp3d extrusionH="63500">
            <a:bevelT w="107950"/>
            <a:bevelB/>
            <a:extrusionClr>
              <a:schemeClr val="bg1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dirty="0" smtClean="0">
                <a:solidFill>
                  <a:schemeClr val="tx1"/>
                </a:solidFill>
              </a:rPr>
              <a:t>MODEM TRANSMISOR</a:t>
            </a:r>
          </a:p>
        </p:txBody>
      </p:sp>
      <p:sp>
        <p:nvSpPr>
          <p:cNvPr id="18" name="17 CuadroTexto"/>
          <p:cNvSpPr txBox="1"/>
          <p:nvPr/>
        </p:nvSpPr>
        <p:spPr>
          <a:xfrm>
            <a:off x="3191628" y="1985946"/>
            <a:ext cx="16900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b="1" dirty="0" smtClean="0">
                <a:solidFill>
                  <a:srgbClr val="0070C0"/>
                </a:solidFill>
              </a:rPr>
              <a:t>PROTOTIPO</a:t>
            </a:r>
            <a:endParaRPr lang="es-ES" sz="2000" b="1" dirty="0">
              <a:solidFill>
                <a:srgbClr val="0070C0"/>
              </a:solidFill>
            </a:endParaRPr>
          </a:p>
        </p:txBody>
      </p:sp>
      <p:sp>
        <p:nvSpPr>
          <p:cNvPr id="20" name="19 CuadroTexto"/>
          <p:cNvSpPr txBox="1"/>
          <p:nvPr/>
        </p:nvSpPr>
        <p:spPr>
          <a:xfrm>
            <a:off x="6678395" y="1985946"/>
            <a:ext cx="17572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b="1" dirty="0" smtClean="0">
                <a:solidFill>
                  <a:srgbClr val="00B050"/>
                </a:solidFill>
              </a:rPr>
              <a:t>ESCALABLE</a:t>
            </a:r>
            <a:endParaRPr lang="es-ES" sz="20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99678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6 Rectángulo redondeado"/>
          <p:cNvSpPr/>
          <p:nvPr/>
        </p:nvSpPr>
        <p:spPr>
          <a:xfrm>
            <a:off x="4171235" y="1925975"/>
            <a:ext cx="3548002" cy="441731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4" name="Rectángulo redondeado 3"/>
          <p:cNvSpPr/>
          <p:nvPr/>
        </p:nvSpPr>
        <p:spPr>
          <a:xfrm>
            <a:off x="4601634" y="5182275"/>
            <a:ext cx="2738967" cy="95158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  <a:scene3d>
            <a:camera prst="perspectiveRelaxedModerately"/>
            <a:lightRig rig="threePt" dir="t"/>
          </a:scene3d>
          <a:sp3d extrusionH="63500">
            <a:bevelT w="107950"/>
            <a:bevelB/>
            <a:extrusionClr>
              <a:schemeClr val="bg1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dirty="0" smtClean="0">
                <a:solidFill>
                  <a:schemeClr val="tx1"/>
                </a:solidFill>
              </a:rPr>
              <a:t>PLATAFORMA</a:t>
            </a:r>
          </a:p>
        </p:txBody>
      </p:sp>
      <p:sp>
        <p:nvSpPr>
          <p:cNvPr id="14" name="Rectángulo redondeado 3"/>
          <p:cNvSpPr/>
          <p:nvPr/>
        </p:nvSpPr>
        <p:spPr>
          <a:xfrm>
            <a:off x="4603709" y="4082336"/>
            <a:ext cx="2738967" cy="95158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  <a:scene3d>
            <a:camera prst="perspectiveRelaxedModerately"/>
            <a:lightRig rig="threePt" dir="t"/>
          </a:scene3d>
          <a:sp3d extrusionH="63500">
            <a:bevelT w="107950"/>
            <a:bevelB/>
            <a:extrusionClr>
              <a:schemeClr val="bg1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dirty="0" smtClean="0">
                <a:solidFill>
                  <a:schemeClr val="tx1"/>
                </a:solidFill>
              </a:rPr>
              <a:t>RECEPTOR</a:t>
            </a:r>
          </a:p>
        </p:txBody>
      </p:sp>
      <p:sp>
        <p:nvSpPr>
          <p:cNvPr id="15" name="Rectángulo redondeado 3"/>
          <p:cNvSpPr/>
          <p:nvPr/>
        </p:nvSpPr>
        <p:spPr>
          <a:xfrm>
            <a:off x="4601635" y="3062149"/>
            <a:ext cx="2738967" cy="95158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  <a:scene3d>
            <a:camera prst="perspectiveRelaxedModerately"/>
            <a:lightRig rig="threePt" dir="t"/>
          </a:scene3d>
          <a:sp3d extrusionH="63500">
            <a:bevelT w="107950"/>
            <a:bevelB/>
            <a:extrusionClr>
              <a:schemeClr val="bg1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dirty="0" smtClean="0">
                <a:solidFill>
                  <a:schemeClr val="tx1"/>
                </a:solidFill>
              </a:rPr>
              <a:t>CAMARA</a:t>
            </a:r>
          </a:p>
        </p:txBody>
      </p:sp>
      <p:sp>
        <p:nvSpPr>
          <p:cNvPr id="16" name="Rectángulo redondeado 3"/>
          <p:cNvSpPr/>
          <p:nvPr/>
        </p:nvSpPr>
        <p:spPr>
          <a:xfrm>
            <a:off x="4634374" y="2030809"/>
            <a:ext cx="2738967" cy="95158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  <a:scene3d>
            <a:camera prst="perspectiveRelaxedModerately"/>
            <a:lightRig rig="threePt" dir="t"/>
          </a:scene3d>
          <a:sp3d extrusionH="63500">
            <a:bevelT w="107950"/>
            <a:bevelB/>
            <a:extrusionClr>
              <a:schemeClr val="bg1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dirty="0" smtClean="0">
                <a:solidFill>
                  <a:schemeClr val="tx1"/>
                </a:solidFill>
              </a:rPr>
              <a:t>MODEM TRANSMISOR</a:t>
            </a:r>
          </a:p>
        </p:txBody>
      </p:sp>
      <p:sp>
        <p:nvSpPr>
          <p:cNvPr id="18" name="17 CuadroTexto"/>
          <p:cNvSpPr txBox="1"/>
          <p:nvPr/>
        </p:nvSpPr>
        <p:spPr>
          <a:xfrm>
            <a:off x="5100197" y="1472702"/>
            <a:ext cx="16900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b="1" dirty="0" smtClean="0">
                <a:solidFill>
                  <a:srgbClr val="0070C0"/>
                </a:solidFill>
              </a:rPr>
              <a:t>PROTOTIPO</a:t>
            </a:r>
            <a:endParaRPr lang="es-ES" sz="2000" b="1" dirty="0">
              <a:solidFill>
                <a:srgbClr val="0070C0"/>
              </a:solidFill>
            </a:endParaRPr>
          </a:p>
        </p:txBody>
      </p:sp>
      <p:pic>
        <p:nvPicPr>
          <p:cNvPr id="17" name="Imagen 7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15" r="11580" b="12468"/>
          <a:stretch/>
        </p:blipFill>
        <p:spPr>
          <a:xfrm rot="730320">
            <a:off x="9001627" y="2123466"/>
            <a:ext cx="1915064" cy="1832844"/>
          </a:xfrm>
          <a:prstGeom prst="rect">
            <a:avLst/>
          </a:prstGeom>
        </p:spPr>
      </p:pic>
      <p:pic>
        <p:nvPicPr>
          <p:cNvPr id="19" name="Imagen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810706">
            <a:off x="1439510" y="2598003"/>
            <a:ext cx="1612166" cy="1340481"/>
          </a:xfrm>
          <a:prstGeom prst="rect">
            <a:avLst/>
          </a:prstGeom>
        </p:spPr>
      </p:pic>
      <p:pic>
        <p:nvPicPr>
          <p:cNvPr id="21" name="20 Imagen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63" b="11623"/>
          <a:stretch/>
        </p:blipFill>
        <p:spPr>
          <a:xfrm>
            <a:off x="1576754" y="4771347"/>
            <a:ext cx="1382287" cy="1070084"/>
          </a:xfrm>
          <a:prstGeom prst="rect">
            <a:avLst/>
          </a:prstGeom>
        </p:spPr>
      </p:pic>
      <p:pic>
        <p:nvPicPr>
          <p:cNvPr id="13" name="12 Imagen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8816" y="4852612"/>
            <a:ext cx="1917044" cy="1490678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9019851" y="1975386"/>
            <a:ext cx="18828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 smtClean="0"/>
              <a:t>GSM/GPRS</a:t>
            </a:r>
            <a:endParaRPr lang="es-ES" dirty="0" smtClean="0"/>
          </a:p>
          <a:p>
            <a:pPr algn="ctr"/>
            <a:r>
              <a:rPr lang="es-ES" dirty="0" smtClean="0"/>
              <a:t>SIM900</a:t>
            </a:r>
            <a:endParaRPr lang="es-ES" dirty="0"/>
          </a:p>
        </p:txBody>
      </p:sp>
      <p:sp>
        <p:nvSpPr>
          <p:cNvPr id="20" name="7 CuadroTexto"/>
          <p:cNvSpPr txBox="1"/>
          <p:nvPr/>
        </p:nvSpPr>
        <p:spPr>
          <a:xfrm>
            <a:off x="1648893" y="4207015"/>
            <a:ext cx="13485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LinkSprite</a:t>
            </a:r>
            <a:endParaRPr lang="es-ES" dirty="0" smtClean="0"/>
          </a:p>
          <a:p>
            <a:r>
              <a:rPr lang="es-ES" dirty="0" smtClean="0"/>
              <a:t>Sen11610</a:t>
            </a:r>
            <a:endParaRPr lang="es-ES" dirty="0"/>
          </a:p>
        </p:txBody>
      </p:sp>
      <p:sp>
        <p:nvSpPr>
          <p:cNvPr id="23" name="7 CuadroTexto"/>
          <p:cNvSpPr txBox="1"/>
          <p:nvPr/>
        </p:nvSpPr>
        <p:spPr>
          <a:xfrm>
            <a:off x="1813921" y="2156428"/>
            <a:ext cx="18828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Skylab</a:t>
            </a:r>
            <a:endParaRPr lang="es-ES" dirty="0" smtClean="0"/>
          </a:p>
          <a:p>
            <a:r>
              <a:rPr lang="es-ES" dirty="0" smtClean="0"/>
              <a:t>SKM53</a:t>
            </a:r>
            <a:endParaRPr lang="es-ES" dirty="0"/>
          </a:p>
        </p:txBody>
      </p:sp>
      <p:sp>
        <p:nvSpPr>
          <p:cNvPr id="24" name="7 CuadroTexto"/>
          <p:cNvSpPr txBox="1"/>
          <p:nvPr/>
        </p:nvSpPr>
        <p:spPr>
          <a:xfrm>
            <a:off x="9453398" y="4275613"/>
            <a:ext cx="11634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Arduino</a:t>
            </a:r>
            <a:endParaRPr lang="es-ES" dirty="0" smtClean="0"/>
          </a:p>
          <a:p>
            <a:r>
              <a:rPr lang="es-ES" dirty="0" smtClean="0"/>
              <a:t>UNO R3</a:t>
            </a:r>
          </a:p>
        </p:txBody>
      </p:sp>
      <p:sp>
        <p:nvSpPr>
          <p:cNvPr id="33" name="Rectángulo redondeado 32"/>
          <p:cNvSpPr/>
          <p:nvPr/>
        </p:nvSpPr>
        <p:spPr>
          <a:xfrm>
            <a:off x="1453893" y="2156428"/>
            <a:ext cx="1628008" cy="1626670"/>
          </a:xfrm>
          <a:prstGeom prst="roundRect">
            <a:avLst/>
          </a:prstGeom>
          <a:noFill/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35" name="Rectángulo redondeado 34"/>
          <p:cNvSpPr/>
          <p:nvPr/>
        </p:nvSpPr>
        <p:spPr>
          <a:xfrm>
            <a:off x="8839960" y="4207015"/>
            <a:ext cx="2244696" cy="2136276"/>
          </a:xfrm>
          <a:prstGeom prst="roundRect">
            <a:avLst/>
          </a:prstGeom>
          <a:noFill/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36" name="Rectángulo redondeado 35"/>
          <p:cNvSpPr/>
          <p:nvPr/>
        </p:nvSpPr>
        <p:spPr>
          <a:xfrm>
            <a:off x="1453893" y="4214761"/>
            <a:ext cx="1628008" cy="1626670"/>
          </a:xfrm>
          <a:prstGeom prst="roundRect">
            <a:avLst/>
          </a:prstGeom>
          <a:noFill/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37" name="Rectángulo redondeado 36"/>
          <p:cNvSpPr/>
          <p:nvPr/>
        </p:nvSpPr>
        <p:spPr>
          <a:xfrm>
            <a:off x="8833670" y="1925975"/>
            <a:ext cx="2244696" cy="2136276"/>
          </a:xfrm>
          <a:prstGeom prst="roundRect">
            <a:avLst/>
          </a:prstGeom>
          <a:noFill/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cxnSp>
        <p:nvCxnSpPr>
          <p:cNvPr id="52" name="Conector recto de flecha 51"/>
          <p:cNvCxnSpPr>
            <a:stCxn id="35" idx="1"/>
            <a:endCxn id="4" idx="3"/>
          </p:cNvCxnSpPr>
          <p:nvPr/>
        </p:nvCxnSpPr>
        <p:spPr>
          <a:xfrm flipH="1">
            <a:off x="7340601" y="5275153"/>
            <a:ext cx="1499359" cy="382916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ector recto de flecha 52"/>
          <p:cNvCxnSpPr>
            <a:stCxn id="37" idx="1"/>
          </p:cNvCxnSpPr>
          <p:nvPr/>
        </p:nvCxnSpPr>
        <p:spPr>
          <a:xfrm flipH="1" flipV="1">
            <a:off x="7373341" y="2586355"/>
            <a:ext cx="1460329" cy="407758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ector recto de flecha 57"/>
          <p:cNvCxnSpPr>
            <a:stCxn id="33" idx="3"/>
          </p:cNvCxnSpPr>
          <p:nvPr/>
        </p:nvCxnSpPr>
        <p:spPr>
          <a:xfrm flipV="1">
            <a:off x="3081901" y="2555619"/>
            <a:ext cx="1542449" cy="414144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ector recto de flecha 60"/>
          <p:cNvCxnSpPr>
            <a:stCxn id="36" idx="3"/>
          </p:cNvCxnSpPr>
          <p:nvPr/>
        </p:nvCxnSpPr>
        <p:spPr>
          <a:xfrm flipV="1">
            <a:off x="3081901" y="4648029"/>
            <a:ext cx="1511060" cy="380067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88990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4606833" y="2066440"/>
            <a:ext cx="3556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s-PE" sz="4000" dirty="0" smtClean="0"/>
              <a:t>HARDWARE</a:t>
            </a:r>
          </a:p>
        </p:txBody>
      </p:sp>
      <p:sp>
        <p:nvSpPr>
          <p:cNvPr id="15" name="14 Rectángulo redondeado"/>
          <p:cNvSpPr/>
          <p:nvPr/>
        </p:nvSpPr>
        <p:spPr>
          <a:xfrm>
            <a:off x="1851072" y="2131754"/>
            <a:ext cx="2539293" cy="242391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 smtClean="0">
                <a:solidFill>
                  <a:srgbClr val="00B050"/>
                </a:solidFill>
              </a:rPr>
              <a:t>Prototipo</a:t>
            </a:r>
          </a:p>
          <a:p>
            <a:pPr algn="ctr"/>
            <a:r>
              <a:rPr lang="es-ES" sz="3600" b="1" dirty="0" smtClean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s-ES" sz="3600" b="1" dirty="0" smtClean="0">
                <a:solidFill>
                  <a:srgbClr val="0070C0"/>
                </a:solidFill>
              </a:rPr>
              <a:t>Servidor</a:t>
            </a:r>
            <a:endParaRPr lang="es-ES" sz="3600" b="1" dirty="0">
              <a:solidFill>
                <a:srgbClr val="0070C0"/>
              </a:solidFill>
            </a:endParaRPr>
          </a:p>
        </p:txBody>
      </p:sp>
      <p:sp>
        <p:nvSpPr>
          <p:cNvPr id="4" name="CuadroTexto 4"/>
          <p:cNvSpPr txBox="1"/>
          <p:nvPr/>
        </p:nvSpPr>
        <p:spPr>
          <a:xfrm>
            <a:off x="4606833" y="2774326"/>
            <a:ext cx="483267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/>
              <a:t>Diseño MODULAR: Escalable</a:t>
            </a:r>
            <a:endParaRPr lang="es-PE" sz="2400" dirty="0"/>
          </a:p>
          <a:p>
            <a:pPr marL="571500" indent="-571500">
              <a:buClr>
                <a:schemeClr val="bg1">
                  <a:lumMod val="65000"/>
                </a:schemeClr>
              </a:buClr>
              <a:buFont typeface="Arial" pitchFamily="34" charset="0"/>
              <a:buChar char="•"/>
            </a:pPr>
            <a:r>
              <a:rPr lang="es-PE" sz="2400" i="1" dirty="0" smtClean="0"/>
              <a:t> </a:t>
            </a:r>
          </a:p>
          <a:p>
            <a:pPr marL="571500" indent="-571500">
              <a:buClr>
                <a:schemeClr val="bg1">
                  <a:lumMod val="65000"/>
                </a:schemeClr>
              </a:buClr>
              <a:buFont typeface="Arial" pitchFamily="34" charset="0"/>
              <a:buChar char="•"/>
            </a:pPr>
            <a:r>
              <a:rPr lang="es-PE" sz="2400" dirty="0" smtClean="0"/>
              <a:t> </a:t>
            </a:r>
          </a:p>
          <a:p>
            <a:pPr marL="571500" indent="-571500">
              <a:buClr>
                <a:schemeClr val="bg1">
                  <a:lumMod val="65000"/>
                </a:schemeClr>
              </a:buClr>
              <a:buFont typeface="Arial" pitchFamily="34" charset="0"/>
              <a:buChar char="•"/>
            </a:pPr>
            <a:r>
              <a:rPr lang="es-PE" sz="2400" dirty="0"/>
              <a:t> </a:t>
            </a:r>
          </a:p>
          <a:p>
            <a:r>
              <a:rPr lang="es-PE" sz="2400" dirty="0" smtClean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235739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12" name="11 Marcador de contenido"/>
          <p:cNvSpPr>
            <a:spLocks noGrp="1"/>
          </p:cNvSpPr>
          <p:nvPr>
            <p:ph idx="1"/>
          </p:nvPr>
        </p:nvSpPr>
        <p:spPr>
          <a:xfrm>
            <a:off x="4769553" y="4968792"/>
            <a:ext cx="6584247" cy="1188317"/>
          </a:xfrm>
        </p:spPr>
        <p:txBody>
          <a:bodyPr/>
          <a:lstStyle/>
          <a:p>
            <a:r>
              <a:rPr lang="es-ES" dirty="0" smtClean="0"/>
              <a:t>Plataforma de desarrollo</a:t>
            </a:r>
          </a:p>
          <a:p>
            <a:r>
              <a:rPr lang="es-ES" dirty="0" smtClean="0"/>
              <a:t>Microcontrolador </a:t>
            </a:r>
            <a:r>
              <a:rPr lang="es-ES" dirty="0" err="1" smtClean="0"/>
              <a:t>Atmel</a:t>
            </a:r>
            <a:r>
              <a:rPr lang="es-ES" dirty="0" smtClean="0"/>
              <a:t> ATMega328</a:t>
            </a:r>
            <a:endParaRPr lang="es-ES" dirty="0"/>
          </a:p>
        </p:txBody>
      </p:sp>
      <p:pic>
        <p:nvPicPr>
          <p:cNvPr id="4" name="3 Imagen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6235" y="2890578"/>
            <a:ext cx="3042767" cy="2366032"/>
          </a:xfrm>
          <a:prstGeom prst="rect">
            <a:avLst/>
          </a:prstGeom>
        </p:spPr>
      </p:pic>
      <p:pic>
        <p:nvPicPr>
          <p:cNvPr id="6" name="5 Imagen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251"/>
          <a:stretch/>
        </p:blipFill>
        <p:spPr>
          <a:xfrm>
            <a:off x="5798091" y="1102207"/>
            <a:ext cx="3265714" cy="2669694"/>
          </a:xfrm>
          <a:prstGeom prst="rect">
            <a:avLst/>
          </a:prstGeom>
        </p:spPr>
      </p:pic>
      <p:sp>
        <p:nvSpPr>
          <p:cNvPr id="10" name="9 Flecha curvada hacia abajo"/>
          <p:cNvSpPr/>
          <p:nvPr/>
        </p:nvSpPr>
        <p:spPr>
          <a:xfrm rot="19935040">
            <a:off x="3377952" y="1986417"/>
            <a:ext cx="3081279" cy="1130143"/>
          </a:xfrm>
          <a:prstGeom prst="curvedDownArrow">
            <a:avLst>
              <a:gd name="adj1" fmla="val 19996"/>
              <a:gd name="adj2" fmla="val 42314"/>
              <a:gd name="adj3" fmla="val 3456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04106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12" name="11 Marcador de contenido"/>
          <p:cNvSpPr>
            <a:spLocks noGrp="1"/>
          </p:cNvSpPr>
          <p:nvPr>
            <p:ph idx="1"/>
          </p:nvPr>
        </p:nvSpPr>
        <p:spPr>
          <a:xfrm>
            <a:off x="5517573" y="1953492"/>
            <a:ext cx="5836227" cy="4203618"/>
          </a:xfrm>
        </p:spPr>
        <p:txBody>
          <a:bodyPr/>
          <a:lstStyle/>
          <a:p>
            <a:r>
              <a:rPr lang="es-ES" dirty="0" smtClean="0"/>
              <a:t>Flash: 32 kb</a:t>
            </a:r>
          </a:p>
          <a:p>
            <a:r>
              <a:rPr lang="es-ES" dirty="0" smtClean="0"/>
              <a:t>SRAM: 2 kb</a:t>
            </a:r>
          </a:p>
          <a:p>
            <a:r>
              <a:rPr lang="es-ES" dirty="0" smtClean="0"/>
              <a:t>Frecuencia: 20 </a:t>
            </a:r>
            <a:r>
              <a:rPr lang="es-ES" dirty="0" err="1" smtClean="0"/>
              <a:t>Mhz</a:t>
            </a:r>
            <a:endParaRPr lang="es-ES" dirty="0" smtClean="0"/>
          </a:p>
          <a:p>
            <a:r>
              <a:rPr lang="es-ES" dirty="0" smtClean="0"/>
              <a:t>Pines de E/S: 26</a:t>
            </a:r>
          </a:p>
          <a:p>
            <a:r>
              <a:rPr lang="es-ES" dirty="0" smtClean="0"/>
              <a:t>Puerto serial: 1</a:t>
            </a:r>
          </a:p>
          <a:p>
            <a:r>
              <a:rPr lang="es-ES" dirty="0" smtClean="0"/>
              <a:t>Puerto serial software: n</a:t>
            </a:r>
          </a:p>
          <a:p>
            <a:r>
              <a:rPr lang="es-ES" dirty="0" smtClean="0"/>
              <a:t>Consumo: 4mA</a:t>
            </a:r>
          </a:p>
        </p:txBody>
      </p:sp>
      <p:pic>
        <p:nvPicPr>
          <p:cNvPr id="6" name="5 Imagen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251"/>
          <a:stretch/>
        </p:blipFill>
        <p:spPr>
          <a:xfrm>
            <a:off x="1600164" y="2172470"/>
            <a:ext cx="3265714" cy="2669694"/>
          </a:xfrm>
          <a:prstGeom prst="rect">
            <a:avLst/>
          </a:prstGeom>
        </p:spPr>
      </p:pic>
      <p:cxnSp>
        <p:nvCxnSpPr>
          <p:cNvPr id="5" name="Conector recto 13"/>
          <p:cNvCxnSpPr/>
          <p:nvPr/>
        </p:nvCxnSpPr>
        <p:spPr>
          <a:xfrm>
            <a:off x="5370615" y="1916049"/>
            <a:ext cx="0" cy="3721608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93101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4606833" y="2066440"/>
            <a:ext cx="3556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s-PE" sz="4000" dirty="0" smtClean="0"/>
              <a:t>HARDWARE</a:t>
            </a:r>
          </a:p>
        </p:txBody>
      </p:sp>
      <p:sp>
        <p:nvSpPr>
          <p:cNvPr id="15" name="14 Rectángulo redondeado"/>
          <p:cNvSpPr/>
          <p:nvPr/>
        </p:nvSpPr>
        <p:spPr>
          <a:xfrm>
            <a:off x="1851072" y="2131754"/>
            <a:ext cx="2539293" cy="242391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 smtClean="0">
                <a:solidFill>
                  <a:srgbClr val="00B050"/>
                </a:solidFill>
              </a:rPr>
              <a:t>Prototipo</a:t>
            </a:r>
          </a:p>
          <a:p>
            <a:pPr algn="ctr"/>
            <a:r>
              <a:rPr lang="es-ES" sz="3600" b="1" dirty="0" smtClean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s-ES" sz="3600" b="1" dirty="0" smtClean="0">
                <a:solidFill>
                  <a:srgbClr val="0070C0"/>
                </a:solidFill>
              </a:rPr>
              <a:t>Servidor</a:t>
            </a:r>
            <a:endParaRPr lang="es-ES" sz="3600" b="1" dirty="0">
              <a:solidFill>
                <a:srgbClr val="0070C0"/>
              </a:solidFill>
            </a:endParaRPr>
          </a:p>
        </p:txBody>
      </p:sp>
      <p:sp>
        <p:nvSpPr>
          <p:cNvPr id="4" name="CuadroTexto 4"/>
          <p:cNvSpPr txBox="1"/>
          <p:nvPr/>
        </p:nvSpPr>
        <p:spPr>
          <a:xfrm>
            <a:off x="4606833" y="2774326"/>
            <a:ext cx="615636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>
                <a:solidFill>
                  <a:schemeClr val="bg1">
                    <a:lumMod val="65000"/>
                  </a:schemeClr>
                </a:solidFill>
              </a:rPr>
              <a:t>Diseño MODULAR</a:t>
            </a:r>
            <a:endParaRPr lang="es-PE" sz="2400" dirty="0">
              <a:solidFill>
                <a:schemeClr val="bg1">
                  <a:lumMod val="65000"/>
                </a:schemeClr>
              </a:solidFill>
            </a:endParaRP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/>
              <a:t>Basado en un MICROCONTROLADOR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>
                <a:solidFill>
                  <a:schemeClr val="bg1">
                    <a:lumMod val="65000"/>
                  </a:schemeClr>
                </a:solidFill>
              </a:rPr>
              <a:t> 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>
                <a:solidFill>
                  <a:schemeClr val="bg1">
                    <a:lumMod val="65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999034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pic>
        <p:nvPicPr>
          <p:cNvPr id="17" name="Marcador de contenido 16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5505" y="2034916"/>
            <a:ext cx="980660" cy="1961319"/>
          </a:xfrm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5836" y="2195519"/>
            <a:ext cx="998670" cy="998670"/>
          </a:xfrm>
          <a:prstGeom prst="rect">
            <a:avLst/>
          </a:prstGeom>
          <a:scene3d>
            <a:camera prst="orthographicFront">
              <a:rot lat="0" lon="0" rev="6300000"/>
            </a:camera>
            <a:lightRig rig="threePt" dir="t"/>
          </a:scene3d>
        </p:spPr>
      </p:pic>
      <p:sp>
        <p:nvSpPr>
          <p:cNvPr id="8" name="Rectángulo redondeado 7"/>
          <p:cNvSpPr/>
          <p:nvPr/>
        </p:nvSpPr>
        <p:spPr>
          <a:xfrm>
            <a:off x="5415437" y="3194189"/>
            <a:ext cx="1925052" cy="1046748"/>
          </a:xfrm>
          <a:prstGeom prst="roundRect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800" b="1" dirty="0" smtClean="0">
                <a:solidFill>
                  <a:schemeClr val="tx1"/>
                </a:solidFill>
              </a:rPr>
              <a:t>Prototipo</a:t>
            </a:r>
          </a:p>
        </p:txBody>
      </p:sp>
      <p:cxnSp>
        <p:nvCxnSpPr>
          <p:cNvPr id="11" name="Conector recto de flecha 10"/>
          <p:cNvCxnSpPr>
            <a:endCxn id="8" idx="1"/>
          </p:cNvCxnSpPr>
          <p:nvPr/>
        </p:nvCxnSpPr>
        <p:spPr>
          <a:xfrm>
            <a:off x="2888673" y="3044536"/>
            <a:ext cx="2526764" cy="67302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de flecha 13"/>
          <p:cNvCxnSpPr>
            <a:stCxn id="8" idx="3"/>
            <a:endCxn id="17" idx="1"/>
          </p:cNvCxnSpPr>
          <p:nvPr/>
        </p:nvCxnSpPr>
        <p:spPr>
          <a:xfrm flipV="1">
            <a:off x="7340489" y="3015576"/>
            <a:ext cx="2275016" cy="70198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uadroTexto 8"/>
          <p:cNvSpPr txBox="1"/>
          <p:nvPr/>
        </p:nvSpPr>
        <p:spPr>
          <a:xfrm>
            <a:off x="2764506" y="2178741"/>
            <a:ext cx="18652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400" dirty="0" smtClean="0"/>
              <a:t>Latitud</a:t>
            </a:r>
            <a:r>
              <a:rPr lang="es-PE" sz="1400" dirty="0"/>
              <a:t>: -</a:t>
            </a:r>
            <a:r>
              <a:rPr lang="es-PE" sz="1400" dirty="0" smtClean="0"/>
              <a:t>12.180750</a:t>
            </a:r>
          </a:p>
          <a:p>
            <a:r>
              <a:rPr lang="es-PE" sz="1400" dirty="0"/>
              <a:t>Longitud: -76.994984</a:t>
            </a:r>
          </a:p>
        </p:txBody>
      </p:sp>
      <p:sp>
        <p:nvSpPr>
          <p:cNvPr id="18" name="CuadroTexto 17"/>
          <p:cNvSpPr txBox="1"/>
          <p:nvPr/>
        </p:nvSpPr>
        <p:spPr>
          <a:xfrm>
            <a:off x="3952536" y="3780075"/>
            <a:ext cx="1462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b="1" dirty="0" smtClean="0">
                <a:solidFill>
                  <a:srgbClr val="00B050"/>
                </a:solidFill>
              </a:rPr>
              <a:t>RECEPTOR</a:t>
            </a:r>
            <a:endParaRPr lang="es-PE" b="1" dirty="0">
              <a:solidFill>
                <a:srgbClr val="00B050"/>
              </a:solidFill>
            </a:endParaRPr>
          </a:p>
        </p:txBody>
      </p:sp>
      <p:sp>
        <p:nvSpPr>
          <p:cNvPr id="27" name="CuadroTexto 26"/>
          <p:cNvSpPr txBox="1"/>
          <p:nvPr/>
        </p:nvSpPr>
        <p:spPr>
          <a:xfrm>
            <a:off x="1478056" y="5071411"/>
            <a:ext cx="371614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PE" sz="2400" dirty="0" smtClean="0"/>
              <a:t>Receptor GPS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PE" sz="2400" dirty="0" smtClean="0"/>
              <a:t>Transmisor GSM/GPRS</a:t>
            </a:r>
            <a:endParaRPr lang="es-PE" sz="2400" dirty="0"/>
          </a:p>
        </p:txBody>
      </p:sp>
      <p:sp>
        <p:nvSpPr>
          <p:cNvPr id="28" name="CuadroTexto 27"/>
          <p:cNvSpPr txBox="1"/>
          <p:nvPr/>
        </p:nvSpPr>
        <p:spPr>
          <a:xfrm>
            <a:off x="7340489" y="3780075"/>
            <a:ext cx="1736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b="1" dirty="0" smtClean="0">
                <a:solidFill>
                  <a:srgbClr val="00B050"/>
                </a:solidFill>
              </a:rPr>
              <a:t>TRANSMISOR</a:t>
            </a:r>
            <a:endParaRPr lang="es-PE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2165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15" r="11580" b="12468"/>
          <a:stretch/>
        </p:blipFill>
        <p:spPr>
          <a:xfrm rot="730320">
            <a:off x="2019109" y="1564887"/>
            <a:ext cx="2677373" cy="2562426"/>
          </a:xfrm>
          <a:prstGeom prst="rect">
            <a:avLst/>
          </a:prstGeom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12" name="11 Marcador de contenido"/>
          <p:cNvSpPr>
            <a:spLocks noGrp="1"/>
          </p:cNvSpPr>
          <p:nvPr>
            <p:ph idx="1"/>
          </p:nvPr>
        </p:nvSpPr>
        <p:spPr>
          <a:xfrm>
            <a:off x="5804703" y="2040412"/>
            <a:ext cx="5115008" cy="1611377"/>
          </a:xfrm>
          <a:solidFill>
            <a:schemeClr val="bg1"/>
          </a:solidFill>
        </p:spPr>
        <p:txBody>
          <a:bodyPr>
            <a:normAutofit fontScale="925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Modem transmisor GSM/GPRS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Tecnología 2G y 2.5G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Velocidad de 56 a 114 Kbps</a:t>
            </a:r>
            <a:endParaRPr lang="es-ES" dirty="0"/>
          </a:p>
        </p:txBody>
      </p:sp>
      <p:cxnSp>
        <p:nvCxnSpPr>
          <p:cNvPr id="14" name="Conector recto 13"/>
          <p:cNvCxnSpPr/>
          <p:nvPr/>
        </p:nvCxnSpPr>
        <p:spPr>
          <a:xfrm>
            <a:off x="5370615" y="1795725"/>
            <a:ext cx="0" cy="210075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Imagen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55264">
            <a:off x="2559040" y="4435806"/>
            <a:ext cx="2076052" cy="1726193"/>
          </a:xfrm>
          <a:prstGeom prst="rect">
            <a:avLst/>
          </a:prstGeom>
        </p:spPr>
      </p:pic>
      <p:cxnSp>
        <p:nvCxnSpPr>
          <p:cNvPr id="16" name="Conector recto 15"/>
          <p:cNvCxnSpPr/>
          <p:nvPr/>
        </p:nvCxnSpPr>
        <p:spPr>
          <a:xfrm>
            <a:off x="5355275" y="4430824"/>
            <a:ext cx="0" cy="1736157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11 Marcador de contenido"/>
          <p:cNvSpPr txBox="1">
            <a:spLocks/>
          </p:cNvSpPr>
          <p:nvPr/>
        </p:nvSpPr>
        <p:spPr>
          <a:xfrm>
            <a:off x="5774022" y="4493213"/>
            <a:ext cx="5115008" cy="1611377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Receptor GPS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Decodifica datos de posición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Estándar NMEA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0145358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4606833" y="2066440"/>
            <a:ext cx="3556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s-PE" sz="4000" dirty="0" smtClean="0"/>
              <a:t>HARDWARE</a:t>
            </a:r>
          </a:p>
        </p:txBody>
      </p:sp>
      <p:sp>
        <p:nvSpPr>
          <p:cNvPr id="15" name="14 Rectángulo redondeado"/>
          <p:cNvSpPr/>
          <p:nvPr/>
        </p:nvSpPr>
        <p:spPr>
          <a:xfrm>
            <a:off x="1851072" y="2131754"/>
            <a:ext cx="2539293" cy="242391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 smtClean="0">
                <a:solidFill>
                  <a:srgbClr val="00B050"/>
                </a:solidFill>
              </a:rPr>
              <a:t>Prototipo</a:t>
            </a:r>
          </a:p>
          <a:p>
            <a:pPr algn="ctr"/>
            <a:r>
              <a:rPr lang="es-ES" sz="3600" b="1" dirty="0" smtClean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s-ES" sz="3600" b="1" dirty="0" smtClean="0">
                <a:solidFill>
                  <a:srgbClr val="0070C0"/>
                </a:solidFill>
              </a:rPr>
              <a:t>Servidor</a:t>
            </a:r>
            <a:endParaRPr lang="es-ES" sz="3600" b="1" dirty="0">
              <a:solidFill>
                <a:srgbClr val="0070C0"/>
              </a:solidFill>
            </a:endParaRPr>
          </a:p>
        </p:txBody>
      </p:sp>
      <p:sp>
        <p:nvSpPr>
          <p:cNvPr id="4" name="CuadroTexto 4"/>
          <p:cNvSpPr txBox="1"/>
          <p:nvPr/>
        </p:nvSpPr>
        <p:spPr>
          <a:xfrm>
            <a:off x="4606833" y="2774326"/>
            <a:ext cx="633231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>
                <a:solidFill>
                  <a:schemeClr val="bg1">
                    <a:lumMod val="65000"/>
                  </a:schemeClr>
                </a:solidFill>
              </a:rPr>
              <a:t>Diseño MODULAR</a:t>
            </a:r>
            <a:endParaRPr lang="es-PE" sz="2400" dirty="0">
              <a:solidFill>
                <a:schemeClr val="bg1">
                  <a:lumMod val="65000"/>
                </a:schemeClr>
              </a:solidFill>
            </a:endParaRP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>
                <a:solidFill>
                  <a:schemeClr val="bg1">
                    <a:lumMod val="65000"/>
                  </a:schemeClr>
                </a:solidFill>
              </a:rPr>
              <a:t>Basado en un MICROCONTROLADOR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/>
              <a:t>Receptor GPS y transmisor GSM/GPRS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>
                <a:solidFill>
                  <a:schemeClr val="bg1">
                    <a:lumMod val="65000"/>
                  </a:schemeClr>
                </a:solidFill>
              </a:rPr>
              <a:t> </a:t>
            </a:r>
            <a:endParaRPr lang="es-PE" sz="24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93086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5078187"/>
            <a:ext cx="6313714" cy="1098776"/>
          </a:xfrm>
        </p:spPr>
        <p:txBody>
          <a:bodyPr>
            <a:normAutofit/>
          </a:bodyPr>
          <a:lstStyle/>
          <a:p>
            <a:r>
              <a:rPr lang="es-PE" dirty="0" smtClean="0"/>
              <a:t>Empleo de una CAMARA IR serial</a:t>
            </a:r>
          </a:p>
          <a:p>
            <a:r>
              <a:rPr lang="es-PE" dirty="0" smtClean="0"/>
              <a:t>Conexión de un Sensor magnético</a:t>
            </a:r>
            <a:endParaRPr lang="es-PE" dirty="0"/>
          </a:p>
        </p:txBody>
      </p:sp>
      <p:pic>
        <p:nvPicPr>
          <p:cNvPr id="4" name="3 Imagen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2542" y="4284710"/>
            <a:ext cx="4067989" cy="1830595"/>
          </a:xfrm>
          <a:prstGeom prst="rect">
            <a:avLst/>
          </a:prstGeom>
          <a:scene3d>
            <a:camera prst="orthographicFront">
              <a:rot lat="0" lon="0" rev="0"/>
            </a:camera>
            <a:lightRig rig="threePt" dir="t"/>
          </a:scene3d>
        </p:spPr>
      </p:pic>
      <p:pic>
        <p:nvPicPr>
          <p:cNvPr id="5" name="4 Imagen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6913" y="1699474"/>
            <a:ext cx="5078187" cy="3134579"/>
          </a:xfrm>
          <a:prstGeom prst="rect">
            <a:avLst/>
          </a:prstGeom>
          <a:effectLst>
            <a:softEdge rad="63500"/>
          </a:effectLst>
        </p:spPr>
      </p:pic>
      <p:pic>
        <p:nvPicPr>
          <p:cNvPr id="6" name="5 Imagen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4009" y="2012042"/>
            <a:ext cx="1717221" cy="1717221"/>
          </a:xfrm>
          <a:prstGeom prst="rect">
            <a:avLst/>
          </a:prstGeom>
        </p:spPr>
      </p:pic>
      <p:sp>
        <p:nvSpPr>
          <p:cNvPr id="7" name="6 Elipse"/>
          <p:cNvSpPr/>
          <p:nvPr/>
        </p:nvSpPr>
        <p:spPr>
          <a:xfrm>
            <a:off x="9034645" y="5480314"/>
            <a:ext cx="360260" cy="325583"/>
          </a:xfrm>
          <a:prstGeom prst="ellips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12 Elipse"/>
          <p:cNvSpPr/>
          <p:nvPr/>
        </p:nvSpPr>
        <p:spPr>
          <a:xfrm>
            <a:off x="9031872" y="2012042"/>
            <a:ext cx="2070830" cy="1841500"/>
          </a:xfrm>
          <a:prstGeom prst="ellips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15" name="14 Conector recto"/>
          <p:cNvCxnSpPr>
            <a:stCxn id="7" idx="2"/>
            <a:endCxn id="13" idx="2"/>
          </p:cNvCxnSpPr>
          <p:nvPr/>
        </p:nvCxnSpPr>
        <p:spPr>
          <a:xfrm flipH="1" flipV="1">
            <a:off x="9031872" y="2932792"/>
            <a:ext cx="2773" cy="271031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16 Conector recto"/>
          <p:cNvCxnSpPr>
            <a:stCxn id="7" idx="5"/>
            <a:endCxn id="13" idx="5"/>
          </p:cNvCxnSpPr>
          <p:nvPr/>
        </p:nvCxnSpPr>
        <p:spPr>
          <a:xfrm flipV="1">
            <a:off x="9342146" y="3583861"/>
            <a:ext cx="1457290" cy="217435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20 Conector recto de flecha"/>
          <p:cNvCxnSpPr/>
          <p:nvPr/>
        </p:nvCxnSpPr>
        <p:spPr>
          <a:xfrm flipH="1" flipV="1">
            <a:off x="6515101" y="3412671"/>
            <a:ext cx="2383970" cy="1583872"/>
          </a:xfrm>
          <a:prstGeom prst="straightConnector1">
            <a:avLst/>
          </a:prstGeom>
          <a:ln w="1905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59955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4606833" y="2066440"/>
            <a:ext cx="3556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s-PE" sz="4000" dirty="0" smtClean="0"/>
              <a:t>HARDWARE</a:t>
            </a:r>
          </a:p>
        </p:txBody>
      </p:sp>
      <p:sp>
        <p:nvSpPr>
          <p:cNvPr id="15" name="14 Rectángulo redondeado"/>
          <p:cNvSpPr/>
          <p:nvPr/>
        </p:nvSpPr>
        <p:spPr>
          <a:xfrm>
            <a:off x="1851072" y="2131754"/>
            <a:ext cx="2539293" cy="242391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 smtClean="0">
                <a:solidFill>
                  <a:srgbClr val="00B050"/>
                </a:solidFill>
              </a:rPr>
              <a:t>Prototipo</a:t>
            </a:r>
          </a:p>
          <a:p>
            <a:pPr algn="ctr"/>
            <a:r>
              <a:rPr lang="es-ES" sz="3600" b="1" dirty="0" smtClean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s-ES" sz="3600" b="1" dirty="0" smtClean="0">
                <a:solidFill>
                  <a:srgbClr val="0070C0"/>
                </a:solidFill>
              </a:rPr>
              <a:t>Servidor</a:t>
            </a:r>
            <a:endParaRPr lang="es-ES" sz="3600" b="1" dirty="0">
              <a:solidFill>
                <a:srgbClr val="0070C0"/>
              </a:solidFill>
            </a:endParaRPr>
          </a:p>
        </p:txBody>
      </p:sp>
      <p:sp>
        <p:nvSpPr>
          <p:cNvPr id="4" name="CuadroTexto 4"/>
          <p:cNvSpPr txBox="1"/>
          <p:nvPr/>
        </p:nvSpPr>
        <p:spPr>
          <a:xfrm>
            <a:off x="4606833" y="2774326"/>
            <a:ext cx="6247351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>
                <a:solidFill>
                  <a:schemeClr val="bg1">
                    <a:lumMod val="65000"/>
                  </a:schemeClr>
                </a:solidFill>
              </a:rPr>
              <a:t>Diseño MODULAR</a:t>
            </a:r>
            <a:endParaRPr lang="es-PE" sz="2400" dirty="0">
              <a:solidFill>
                <a:schemeClr val="bg1">
                  <a:lumMod val="65000"/>
                </a:schemeClr>
              </a:solidFill>
            </a:endParaRP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>
                <a:solidFill>
                  <a:schemeClr val="bg1">
                    <a:lumMod val="65000"/>
                  </a:schemeClr>
                </a:solidFill>
              </a:rPr>
              <a:t>Basado en un MICROCONTROLADOR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>
                <a:solidFill>
                  <a:schemeClr val="bg1">
                    <a:lumMod val="65000"/>
                  </a:schemeClr>
                </a:solidFill>
              </a:rPr>
              <a:t>Receptor GPS y transmisor GSM/GPRS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/>
              <a:t>CAMARA IR y sensor magnético</a:t>
            </a:r>
          </a:p>
          <a:p>
            <a:pPr marL="571500" indent="-571500">
              <a:buFont typeface="Arial" pitchFamily="34" charset="0"/>
              <a:buChar char="•"/>
            </a:pPr>
            <a:endParaRPr lang="es-PE" sz="2400" dirty="0"/>
          </a:p>
        </p:txBody>
      </p:sp>
    </p:spTree>
    <p:extLst>
      <p:ext uri="{BB962C8B-B14F-4D97-AF65-F5344CB8AC3E}">
        <p14:creationId xmlns:p14="http://schemas.microsoft.com/office/powerpoint/2010/main" val="23412414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PE" dirty="0" smtClean="0"/>
              <a:t>2. Implementación</a:t>
            </a:r>
            <a:endParaRPr lang="es-PE" dirty="0"/>
          </a:p>
        </p:txBody>
      </p:sp>
      <p:sp>
        <p:nvSpPr>
          <p:cNvPr id="5" name="Subtítulo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192433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PE" dirty="0" smtClean="0"/>
              <a:t>3. Pruebas</a:t>
            </a:r>
            <a:endParaRPr lang="es-PE" dirty="0"/>
          </a:p>
        </p:txBody>
      </p:sp>
      <p:sp>
        <p:nvSpPr>
          <p:cNvPr id="4" name="Subtítulo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8781443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Mejor Presentacion">
      <a:majorFont>
        <a:latin typeface="Helvetica"/>
        <a:ea typeface=""/>
        <a:cs typeface=""/>
      </a:majorFont>
      <a:minorFont>
        <a:latin typeface="Helvetic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3139</TotalTime>
  <Words>344</Words>
  <Application>Microsoft Office PowerPoint</Application>
  <PresentationFormat>Panorámica</PresentationFormat>
  <Paragraphs>126</Paragraphs>
  <Slides>20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4" baseType="lpstr">
      <vt:lpstr>Arial</vt:lpstr>
      <vt:lpstr>Helvetica</vt:lpstr>
      <vt:lpstr>Wingdings</vt:lpstr>
      <vt:lpstr>Tema de Office</vt:lpstr>
      <vt:lpstr>Telelocalización y Captura de Imágenes</vt:lpstr>
      <vt:lpstr>Telelocalización y Captura de Imágenes</vt:lpstr>
      <vt:lpstr>Telelocalización y Captura de Imágenes</vt:lpstr>
      <vt:lpstr>OBJETIVOS</vt:lpstr>
      <vt:lpstr>IMPORTANCIA</vt:lpstr>
      <vt:lpstr>PROBLEMATICA</vt:lpstr>
      <vt:lpstr>Presentación de PowerPoint</vt:lpstr>
      <vt:lpstr>1. HARDWARE</vt:lpstr>
      <vt:lpstr>1. HARDWARE</vt:lpstr>
      <vt:lpstr>Presentación de PowerPoint</vt:lpstr>
      <vt:lpstr>1. HARDWARE</vt:lpstr>
      <vt:lpstr>1. HARDWARE</vt:lpstr>
      <vt:lpstr>Presentación de PowerPoint</vt:lpstr>
      <vt:lpstr>1. HARDWARE</vt:lpstr>
      <vt:lpstr>1. HARDWARE</vt:lpstr>
      <vt:lpstr>Presentación de PowerPoint</vt:lpstr>
      <vt:lpstr>1. HARDWARE</vt:lpstr>
      <vt:lpstr>Presentación de PowerPoint</vt:lpstr>
      <vt:lpstr>2. Implementación</vt:lpstr>
      <vt:lpstr>3. Pruebas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Telelocalización y Captura de Imágenes</dc:title>
  <dc:creator>moniyabel</dc:creator>
  <cp:lastModifiedBy>moniyabel</cp:lastModifiedBy>
  <cp:revision>116</cp:revision>
  <dcterms:created xsi:type="dcterms:W3CDTF">2015-11-22T04:05:58Z</dcterms:created>
  <dcterms:modified xsi:type="dcterms:W3CDTF">2015-12-09T02:34:40Z</dcterms:modified>
</cp:coreProperties>
</file>