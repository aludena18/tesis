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5" r:id="rId6"/>
    <p:sldId id="259" r:id="rId7"/>
    <p:sldId id="264" r:id="rId8"/>
    <p:sldId id="283" r:id="rId9"/>
    <p:sldId id="271" r:id="rId10"/>
    <p:sldId id="267" r:id="rId11"/>
    <p:sldId id="266" r:id="rId12"/>
    <p:sldId id="275" r:id="rId13"/>
    <p:sldId id="269" r:id="rId14"/>
    <p:sldId id="273" r:id="rId15"/>
    <p:sldId id="268" r:id="rId16"/>
    <p:sldId id="274" r:id="rId17"/>
    <p:sldId id="272" r:id="rId18"/>
    <p:sldId id="281" r:id="rId19"/>
    <p:sldId id="282" r:id="rId20"/>
    <p:sldId id="276" r:id="rId21"/>
    <p:sldId id="262" r:id="rId22"/>
    <p:sldId id="284" r:id="rId23"/>
    <p:sldId id="263" r:id="rId2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62" autoAdjust="0"/>
    <p:restoredTop sz="94660"/>
  </p:normalViewPr>
  <p:slideViewPr>
    <p:cSldViewPr snapToGrid="0">
      <p:cViewPr varScale="1">
        <p:scale>
          <a:sx n="58" d="100"/>
          <a:sy n="58" d="100"/>
        </p:scale>
        <p:origin x="-7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775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488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087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378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4000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014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90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347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814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50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605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6D49-C998-4448-A9A4-08248D17FD06}" type="datetimeFigureOut">
              <a:rPr lang="es-PE" smtClean="0"/>
              <a:t>10/12/2015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60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Telelocalización y Captura de Imágenes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PE" sz="3600" dirty="0" smtClean="0"/>
              <a:t>Para Mejorar una Base de Datos Criminalística del Robo de Vehículos en la Ciudad de Lima</a:t>
            </a:r>
            <a:endParaRPr lang="es-PE" sz="3600" dirty="0"/>
          </a:p>
        </p:txBody>
      </p:sp>
      <p:cxnSp>
        <p:nvCxnSpPr>
          <p:cNvPr id="7" name="6 Conector recto"/>
          <p:cNvCxnSpPr/>
          <p:nvPr/>
        </p:nvCxnSpPr>
        <p:spPr>
          <a:xfrm>
            <a:off x="2788857" y="3494314"/>
            <a:ext cx="323983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6070893" y="3494314"/>
            <a:ext cx="3239831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08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>
                <a:solidFill>
                  <a:srgbClr val="00B050"/>
                </a:solidFill>
              </a:rPr>
              <a:t>Telelocalización</a:t>
            </a:r>
            <a:r>
              <a:rPr lang="es-PE" dirty="0" smtClean="0"/>
              <a:t> y</a:t>
            </a:r>
            <a:br>
              <a:rPr lang="es-PE" dirty="0" smtClean="0"/>
            </a:br>
            <a:r>
              <a:rPr lang="es-PE" dirty="0" smtClean="0"/>
              <a:t>Captura de Imágenes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08753"/>
            <a:ext cx="10515600" cy="4351338"/>
          </a:xfrm>
        </p:spPr>
        <p:txBody>
          <a:bodyPr/>
          <a:lstStyle/>
          <a:p>
            <a:endParaRPr lang="es-PE" dirty="0" smtClean="0"/>
          </a:p>
          <a:p>
            <a:r>
              <a:rPr lang="es-PE" dirty="0" smtClean="0"/>
              <a:t>Localización remota en tiempo real</a:t>
            </a:r>
          </a:p>
          <a:p>
            <a:r>
              <a:rPr lang="es-PE" dirty="0" smtClean="0"/>
              <a:t>Basado en sistemas GPS y GSM</a:t>
            </a:r>
          </a:p>
          <a:p>
            <a:r>
              <a:rPr lang="es-PE" dirty="0" smtClean="0"/>
              <a:t>Uso de modem inalámbricos para la transmisión</a:t>
            </a:r>
          </a:p>
          <a:p>
            <a:r>
              <a:rPr lang="es-PE" dirty="0" smtClean="0"/>
              <a:t>Movilidad y comunicación</a:t>
            </a:r>
          </a:p>
          <a:p>
            <a:r>
              <a:rPr lang="es-PE" dirty="0" smtClean="0"/>
              <a:t>Enfocado a automóviles</a:t>
            </a:r>
          </a:p>
          <a:p>
            <a:pPr marL="0" indent="0">
              <a:buNone/>
            </a:pP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385" y="4084422"/>
            <a:ext cx="3944389" cy="236609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88" b="21052"/>
          <a:stretch/>
        </p:blipFill>
        <p:spPr>
          <a:xfrm>
            <a:off x="6646718" y="5023429"/>
            <a:ext cx="2438400" cy="145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9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Telelocalización y</a:t>
            </a:r>
            <a:br>
              <a:rPr lang="es-PE" dirty="0" smtClean="0"/>
            </a:br>
            <a:r>
              <a:rPr lang="es-PE" b="1" dirty="0" smtClean="0">
                <a:solidFill>
                  <a:srgbClr val="0070C0"/>
                </a:solidFill>
              </a:rPr>
              <a:t>Captura de Imágenes</a:t>
            </a:r>
            <a:endParaRPr lang="es-PE" b="1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3913414" cy="4351338"/>
          </a:xfrm>
        </p:spPr>
        <p:txBody>
          <a:bodyPr/>
          <a:lstStyle/>
          <a:p>
            <a:endParaRPr lang="es-PE" dirty="0" smtClean="0"/>
          </a:p>
          <a:p>
            <a:r>
              <a:rPr lang="es-PE" dirty="0"/>
              <a:t>Uso de cámara infrarroja</a:t>
            </a:r>
          </a:p>
          <a:p>
            <a:r>
              <a:rPr lang="es-PE" dirty="0" smtClean="0"/>
              <a:t>Fotos del interior del vehículo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3" t="16753" r="16580" b="12078"/>
          <a:stretch/>
        </p:blipFill>
        <p:spPr>
          <a:xfrm>
            <a:off x="9207472" y="2096488"/>
            <a:ext cx="1960418" cy="190480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7"/>
          <a:stretch/>
        </p:blipFill>
        <p:spPr>
          <a:xfrm>
            <a:off x="4980214" y="2485262"/>
            <a:ext cx="4320776" cy="30320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8602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/>
              <a:t>OBJETIVOS</a:t>
            </a:r>
            <a:endParaRPr lang="es-PE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06120" y="2192482"/>
            <a:ext cx="2576946" cy="1063048"/>
          </a:xfrm>
        </p:spPr>
        <p:txBody>
          <a:bodyPr>
            <a:noAutofit/>
          </a:bodyPr>
          <a:lstStyle/>
          <a:p>
            <a:r>
              <a:rPr lang="es-PE" sz="3200" dirty="0" smtClean="0"/>
              <a:t>Desarrollar un prototipo</a:t>
            </a:r>
            <a:endParaRPr lang="es-PE" sz="3200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838198" y="3026782"/>
            <a:ext cx="3089563" cy="1386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3200" dirty="0" smtClean="0">
                <a:solidFill>
                  <a:srgbClr val="00B050"/>
                </a:solidFill>
              </a:rPr>
              <a:t>Telelocalización</a:t>
            </a:r>
            <a:r>
              <a:rPr lang="es-PE" sz="3200" dirty="0" smtClean="0"/>
              <a:t> y </a:t>
            </a:r>
            <a:r>
              <a:rPr lang="es-PE" sz="3200" dirty="0" smtClean="0">
                <a:solidFill>
                  <a:srgbClr val="0070C0"/>
                </a:solidFill>
              </a:rPr>
              <a:t>Captura de Imágenes</a:t>
            </a:r>
            <a:endParaRPr lang="es-PE" sz="3200" dirty="0">
              <a:solidFill>
                <a:srgbClr val="0070C0"/>
              </a:solidFill>
            </a:endParaRPr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4338309" y="4402776"/>
            <a:ext cx="2757879" cy="855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3200" dirty="0" smtClean="0"/>
              <a:t>Implementar un servidor</a:t>
            </a:r>
            <a:endParaRPr lang="es-PE" sz="3200" dirty="0"/>
          </a:p>
        </p:txBody>
      </p:sp>
      <p:cxnSp>
        <p:nvCxnSpPr>
          <p:cNvPr id="7" name="Conector recto 6"/>
          <p:cNvCxnSpPr/>
          <p:nvPr/>
        </p:nvCxnSpPr>
        <p:spPr>
          <a:xfrm>
            <a:off x="4123707" y="2182089"/>
            <a:ext cx="0" cy="3075709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echa derecha 8"/>
          <p:cNvSpPr/>
          <p:nvPr/>
        </p:nvSpPr>
        <p:spPr>
          <a:xfrm rot="2464850">
            <a:off x="7191662" y="2514371"/>
            <a:ext cx="910935" cy="60279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7975388" y="2940584"/>
            <a:ext cx="3491285" cy="1558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dirty="0" smtClean="0"/>
              <a:t>Incrementar una base de datos criminalística del robo de vehículos</a:t>
            </a:r>
            <a:endParaRPr lang="es-PE" dirty="0"/>
          </a:p>
        </p:txBody>
      </p:sp>
      <p:sp>
        <p:nvSpPr>
          <p:cNvPr id="13" name="Flecha derecha 8"/>
          <p:cNvSpPr/>
          <p:nvPr/>
        </p:nvSpPr>
        <p:spPr>
          <a:xfrm rot="19587048">
            <a:off x="7186881" y="4329270"/>
            <a:ext cx="910935" cy="60279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5456541" y="3454183"/>
            <a:ext cx="449337" cy="53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 smtClean="0"/>
              <a:t>+</a:t>
            </a:r>
            <a:endParaRPr lang="es-PE" sz="4000" b="1" dirty="0"/>
          </a:p>
        </p:txBody>
      </p:sp>
    </p:spTree>
    <p:extLst>
      <p:ext uri="{BB962C8B-B14F-4D97-AF65-F5344CB8AC3E}">
        <p14:creationId xmlns:p14="http://schemas.microsoft.com/office/powerpoint/2010/main" val="299315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9" grpId="0" animBg="1"/>
      <p:bldP spid="12" grpId="0"/>
      <p:bldP spid="13" grpId="0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 redondeado"/>
          <p:cNvSpPr/>
          <p:nvPr/>
        </p:nvSpPr>
        <p:spPr>
          <a:xfrm>
            <a:off x="6371542" y="2171699"/>
            <a:ext cx="4598125" cy="34126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Rectángulo redondeado"/>
          <p:cNvSpPr/>
          <p:nvPr/>
        </p:nvSpPr>
        <p:spPr>
          <a:xfrm>
            <a:off x="999315" y="2171700"/>
            <a:ext cx="4598125" cy="34126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/>
              <a:t>IMPORTANCIA</a:t>
            </a:r>
            <a:endParaRPr lang="es-PE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6806" y="2365952"/>
            <a:ext cx="4637809" cy="29898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PE" b="1" dirty="0" smtClean="0"/>
              <a:t>Tecnológica</a:t>
            </a:r>
          </a:p>
          <a:p>
            <a:pPr marL="0" indent="0" algn="ctr">
              <a:buNone/>
            </a:pPr>
            <a:endParaRPr lang="es-PE" b="1" dirty="0" smtClean="0"/>
          </a:p>
          <a:p>
            <a:pPr lvl="1"/>
            <a:r>
              <a:rPr lang="es-PE" dirty="0" smtClean="0"/>
              <a:t>Hardware basado en módulos</a:t>
            </a:r>
          </a:p>
          <a:p>
            <a:pPr lvl="1"/>
            <a:r>
              <a:rPr lang="es-PE" dirty="0" smtClean="0"/>
              <a:t>Servidor básico con almacenamiento de imágenes</a:t>
            </a:r>
            <a:endParaRPr lang="es-PE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6371542" y="2365951"/>
            <a:ext cx="4279140" cy="30388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b="1" dirty="0" smtClean="0"/>
              <a:t>Social</a:t>
            </a:r>
          </a:p>
          <a:p>
            <a:pPr marL="0" indent="0" algn="ctr">
              <a:buNone/>
            </a:pPr>
            <a:endParaRPr lang="es-PE" b="1" dirty="0" smtClean="0"/>
          </a:p>
          <a:p>
            <a:pPr lvl="1"/>
            <a:r>
              <a:rPr lang="es-PE" dirty="0" smtClean="0"/>
              <a:t>Ubicar automóviles en caso de robo</a:t>
            </a:r>
          </a:p>
          <a:p>
            <a:pPr lvl="1"/>
            <a:r>
              <a:rPr lang="es-PE" dirty="0" smtClean="0"/>
              <a:t>Fotos del chofer y copiloto</a:t>
            </a:r>
          </a:p>
          <a:p>
            <a:pPr lvl="1"/>
            <a:r>
              <a:rPr lang="es-PE" dirty="0" smtClean="0"/>
              <a:t>Evidencia para las autoridades</a:t>
            </a:r>
          </a:p>
        </p:txBody>
      </p:sp>
    </p:spTree>
    <p:extLst>
      <p:ext uri="{BB962C8B-B14F-4D97-AF65-F5344CB8AC3E}">
        <p14:creationId xmlns:p14="http://schemas.microsoft.com/office/powerpoint/2010/main" val="178469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>
                <a:solidFill>
                  <a:srgbClr val="FF0000"/>
                </a:solidFill>
              </a:rPr>
              <a:t>PROBLEMATICA</a:t>
            </a:r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Incremento del robo de automóviles</a:t>
            </a:r>
          </a:p>
          <a:p>
            <a:r>
              <a:rPr lang="es-PE" dirty="0" smtClean="0"/>
              <a:t>20 robos por día</a:t>
            </a:r>
          </a:p>
          <a:p>
            <a:r>
              <a:rPr lang="es-PE" dirty="0" smtClean="0"/>
              <a:t>46% del total de robos a nivel nacional ocurre en Lima</a:t>
            </a:r>
          </a:p>
          <a:p>
            <a:r>
              <a:rPr lang="es-PE" dirty="0" smtClean="0"/>
              <a:t>No existe evidencia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218" y="4267436"/>
            <a:ext cx="2088572" cy="191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8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939342" y="2360362"/>
            <a:ext cx="526650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  <a:p>
            <a:pPr marL="342900" indent="-342900">
              <a:buAutoNum type="arabicPeriod"/>
            </a:pPr>
            <a:r>
              <a:rPr lang="es-PE" sz="4000" dirty="0" smtClean="0"/>
              <a:t>IMPLEMENTACIÓN</a:t>
            </a:r>
          </a:p>
          <a:p>
            <a:pPr marL="342900" indent="-342900">
              <a:buAutoNum type="arabicPeriod"/>
            </a:pPr>
            <a:r>
              <a:rPr lang="es-PE" sz="4000" dirty="0" smtClean="0"/>
              <a:t>FUNCIONAMIENTO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090057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  <a:p>
            <a:pPr algn="ctr"/>
            <a:r>
              <a:rPr lang="es-ES" sz="3600" b="1" dirty="0" smtClean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  <a:endParaRPr lang="es-ES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62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1</a:t>
            </a:r>
            <a:r>
              <a:rPr lang="es-PE" dirty="0" smtClean="0"/>
              <a:t>. Hardware</a:t>
            </a:r>
            <a:endParaRPr lang="es-PE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683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1428017" y="2569997"/>
            <a:ext cx="5047014" cy="3482463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Flecha derecha"/>
          <p:cNvSpPr/>
          <p:nvPr/>
        </p:nvSpPr>
        <p:spPr>
          <a:xfrm rot="16200000">
            <a:off x="5825154" y="3813149"/>
            <a:ext cx="3311075" cy="82477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93076" y="3397526"/>
            <a:ext cx="3841723" cy="2483546"/>
          </a:xfrm>
        </p:spPr>
        <p:txBody>
          <a:bodyPr/>
          <a:lstStyle/>
          <a:p>
            <a:r>
              <a:rPr lang="es-PE" dirty="0" smtClean="0"/>
              <a:t>Diseño MODULAR: Escalable</a:t>
            </a:r>
          </a:p>
          <a:p>
            <a:r>
              <a:rPr lang="es-PE" dirty="0"/>
              <a:t>Permite actualizar cada parte por </a:t>
            </a:r>
            <a:r>
              <a:rPr lang="es-PE" dirty="0" smtClean="0"/>
              <a:t>separado</a:t>
            </a:r>
            <a:endParaRPr lang="es-PE" dirty="0"/>
          </a:p>
        </p:txBody>
      </p:sp>
      <p:sp>
        <p:nvSpPr>
          <p:cNvPr id="4" name="Rectángulo redondeado 3"/>
          <p:cNvSpPr/>
          <p:nvPr/>
        </p:nvSpPr>
        <p:spPr>
          <a:xfrm>
            <a:off x="1780412" y="4812739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PLATAFORMA</a:t>
            </a:r>
          </a:p>
        </p:txBody>
      </p:sp>
      <p:sp>
        <p:nvSpPr>
          <p:cNvPr id="14" name="Rectángulo redondeado 3"/>
          <p:cNvSpPr/>
          <p:nvPr/>
        </p:nvSpPr>
        <p:spPr>
          <a:xfrm>
            <a:off x="2315353" y="4122404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RECEPTOR</a:t>
            </a:r>
          </a:p>
        </p:txBody>
      </p:sp>
      <p:sp>
        <p:nvSpPr>
          <p:cNvPr id="15" name="Rectángulo redondeado 3"/>
          <p:cNvSpPr/>
          <p:nvPr/>
        </p:nvSpPr>
        <p:spPr>
          <a:xfrm>
            <a:off x="2874230" y="3487574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CAMARA</a:t>
            </a:r>
          </a:p>
        </p:txBody>
      </p:sp>
      <p:sp>
        <p:nvSpPr>
          <p:cNvPr id="16" name="Rectángulo redondeado 3"/>
          <p:cNvSpPr/>
          <p:nvPr/>
        </p:nvSpPr>
        <p:spPr>
          <a:xfrm>
            <a:off x="3492796" y="2798208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MODEM TRANSMISOR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3191628" y="1985946"/>
            <a:ext cx="1690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PROTOTIPO</a:t>
            </a:r>
            <a:endParaRPr lang="es-ES" sz="2000" b="1" dirty="0">
              <a:solidFill>
                <a:srgbClr val="0070C0"/>
              </a:solidFill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6678395" y="1985946"/>
            <a:ext cx="1757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B050"/>
                </a:solidFill>
              </a:rPr>
              <a:t>ESCALABLE</a:t>
            </a:r>
            <a:endParaRPr lang="es-E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96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14" grpId="0" animBg="1"/>
      <p:bldP spid="15" grpId="0" animBg="1"/>
      <p:bldP spid="16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3556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  <a:p>
            <a:pPr algn="ctr"/>
            <a:r>
              <a:rPr lang="es-ES" sz="3600" b="1" dirty="0" smtClean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  <a:endParaRPr lang="es-ES" sz="3600" b="1" dirty="0">
              <a:solidFill>
                <a:srgbClr val="0070C0"/>
              </a:solidFill>
            </a:endParaRPr>
          </a:p>
        </p:txBody>
      </p:sp>
      <p:sp>
        <p:nvSpPr>
          <p:cNvPr id="4" name="CuadroTexto 4"/>
          <p:cNvSpPr txBox="1"/>
          <p:nvPr/>
        </p:nvSpPr>
        <p:spPr>
          <a:xfrm>
            <a:off x="4606833" y="2774326"/>
            <a:ext cx="48326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Diseño MODULAR: Escalable</a:t>
            </a:r>
            <a:endParaRPr lang="es-PE" sz="2400" dirty="0"/>
          </a:p>
          <a:p>
            <a:pPr marL="571500" indent="-571500">
              <a:buClr>
                <a:schemeClr val="bg1">
                  <a:lumMod val="65000"/>
                </a:schemeClr>
              </a:buClr>
              <a:buFont typeface="Arial" pitchFamily="34" charset="0"/>
              <a:buChar char="•"/>
            </a:pPr>
            <a:r>
              <a:rPr lang="es-PE" sz="2400" i="1" dirty="0" smtClean="0"/>
              <a:t> </a:t>
            </a:r>
          </a:p>
          <a:p>
            <a:pPr marL="571500" indent="-571500">
              <a:buClr>
                <a:schemeClr val="bg1">
                  <a:lumMod val="65000"/>
                </a:schemeClr>
              </a:buClr>
              <a:buFont typeface="Arial" pitchFamily="34" charset="0"/>
              <a:buChar char="•"/>
            </a:pPr>
            <a:r>
              <a:rPr lang="es-PE" sz="2400" dirty="0" smtClean="0"/>
              <a:t> </a:t>
            </a:r>
          </a:p>
          <a:p>
            <a:pPr marL="571500" indent="-571500">
              <a:buClr>
                <a:schemeClr val="bg1">
                  <a:lumMod val="65000"/>
                </a:schemeClr>
              </a:buClr>
              <a:buFont typeface="Arial" pitchFamily="34" charset="0"/>
              <a:buChar char="•"/>
            </a:pPr>
            <a:r>
              <a:rPr lang="es-PE" sz="2400" dirty="0"/>
              <a:t> </a:t>
            </a:r>
          </a:p>
          <a:p>
            <a:r>
              <a:rPr lang="es-PE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357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12" name="11 Marcador de contenido"/>
          <p:cNvSpPr>
            <a:spLocks noGrp="1"/>
          </p:cNvSpPr>
          <p:nvPr>
            <p:ph idx="1"/>
          </p:nvPr>
        </p:nvSpPr>
        <p:spPr>
          <a:xfrm>
            <a:off x="5455371" y="4968792"/>
            <a:ext cx="5811361" cy="1188317"/>
          </a:xfrm>
        </p:spPr>
        <p:txBody>
          <a:bodyPr>
            <a:normAutofit fontScale="92500" lnSpcReduction="20000"/>
          </a:bodyPr>
          <a:lstStyle/>
          <a:p>
            <a:r>
              <a:rPr lang="es-ES" dirty="0" smtClean="0"/>
              <a:t>Plataforma electrónica de desarrollo</a:t>
            </a:r>
          </a:p>
          <a:p>
            <a:r>
              <a:rPr lang="es-ES" dirty="0" smtClean="0"/>
              <a:t>Permite conectar módulos</a:t>
            </a:r>
          </a:p>
          <a:p>
            <a:r>
              <a:rPr lang="es-ES" dirty="0" smtClean="0"/>
              <a:t>Microcontrolador </a:t>
            </a:r>
            <a:r>
              <a:rPr lang="es-ES" dirty="0" err="1" smtClean="0"/>
              <a:t>Atmel</a:t>
            </a:r>
            <a:r>
              <a:rPr lang="es-ES" dirty="0" smtClean="0"/>
              <a:t> ATMega328</a:t>
            </a:r>
            <a:endParaRPr lang="es-ES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235" y="2890578"/>
            <a:ext cx="3042767" cy="2366032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51"/>
          <a:stretch/>
        </p:blipFill>
        <p:spPr>
          <a:xfrm>
            <a:off x="5798091" y="1102207"/>
            <a:ext cx="3265714" cy="2669694"/>
          </a:xfrm>
          <a:prstGeom prst="rect">
            <a:avLst/>
          </a:prstGeom>
        </p:spPr>
      </p:pic>
      <p:sp>
        <p:nvSpPr>
          <p:cNvPr id="10" name="9 Flecha curvada hacia abajo"/>
          <p:cNvSpPr/>
          <p:nvPr/>
        </p:nvSpPr>
        <p:spPr>
          <a:xfrm rot="19935040">
            <a:off x="3377952" y="1986417"/>
            <a:ext cx="3081279" cy="1130143"/>
          </a:xfrm>
          <a:prstGeom prst="curvedDownArrow">
            <a:avLst>
              <a:gd name="adj1" fmla="val 19996"/>
              <a:gd name="adj2" fmla="val 42314"/>
              <a:gd name="adj3" fmla="val 345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41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12" name="11 Marcador de contenido"/>
          <p:cNvSpPr>
            <a:spLocks noGrp="1"/>
          </p:cNvSpPr>
          <p:nvPr>
            <p:ph idx="1"/>
          </p:nvPr>
        </p:nvSpPr>
        <p:spPr>
          <a:xfrm>
            <a:off x="5517573" y="1953492"/>
            <a:ext cx="5836227" cy="4203618"/>
          </a:xfrm>
        </p:spPr>
        <p:txBody>
          <a:bodyPr/>
          <a:lstStyle/>
          <a:p>
            <a:r>
              <a:rPr lang="es-ES" dirty="0" smtClean="0"/>
              <a:t>Flash: 32 kb</a:t>
            </a:r>
          </a:p>
          <a:p>
            <a:r>
              <a:rPr lang="es-ES" dirty="0" smtClean="0"/>
              <a:t>SRAM: 2 kb</a:t>
            </a:r>
          </a:p>
          <a:p>
            <a:r>
              <a:rPr lang="es-ES" dirty="0" smtClean="0"/>
              <a:t>Frecuencia: 20 </a:t>
            </a:r>
            <a:r>
              <a:rPr lang="es-ES" dirty="0" err="1" smtClean="0"/>
              <a:t>Mhz</a:t>
            </a:r>
            <a:endParaRPr lang="es-ES" dirty="0" smtClean="0"/>
          </a:p>
          <a:p>
            <a:r>
              <a:rPr lang="es-ES" dirty="0" smtClean="0"/>
              <a:t>Pines de E/S: 26</a:t>
            </a:r>
          </a:p>
          <a:p>
            <a:r>
              <a:rPr lang="es-ES" dirty="0" smtClean="0"/>
              <a:t>Puerto serial: 1</a:t>
            </a:r>
          </a:p>
          <a:p>
            <a:r>
              <a:rPr lang="es-ES" dirty="0" smtClean="0"/>
              <a:t>Puerto serial software: n</a:t>
            </a:r>
          </a:p>
          <a:p>
            <a:r>
              <a:rPr lang="es-ES" dirty="0" smtClean="0"/>
              <a:t>Consumo: 4mA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51"/>
          <a:stretch/>
        </p:blipFill>
        <p:spPr>
          <a:xfrm>
            <a:off x="1600164" y="2172470"/>
            <a:ext cx="3265714" cy="2669694"/>
          </a:xfrm>
          <a:prstGeom prst="rect">
            <a:avLst/>
          </a:prstGeom>
        </p:spPr>
      </p:pic>
      <p:cxnSp>
        <p:nvCxnSpPr>
          <p:cNvPr id="5" name="Conector recto 13"/>
          <p:cNvCxnSpPr/>
          <p:nvPr/>
        </p:nvCxnSpPr>
        <p:spPr>
          <a:xfrm>
            <a:off x="5370615" y="1916049"/>
            <a:ext cx="0" cy="372160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31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3556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  <a:p>
            <a:pPr algn="ctr"/>
            <a:r>
              <a:rPr lang="es-ES" sz="3600" b="1" dirty="0" smtClean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  <a:endParaRPr lang="es-ES" sz="3600" b="1" dirty="0">
              <a:solidFill>
                <a:srgbClr val="0070C0"/>
              </a:solidFill>
            </a:endParaRPr>
          </a:p>
        </p:txBody>
      </p:sp>
      <p:sp>
        <p:nvSpPr>
          <p:cNvPr id="4" name="CuadroTexto 4"/>
          <p:cNvSpPr txBox="1"/>
          <p:nvPr/>
        </p:nvSpPr>
        <p:spPr>
          <a:xfrm>
            <a:off x="4606833" y="2774326"/>
            <a:ext cx="61563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>
                <a:solidFill>
                  <a:schemeClr val="bg1">
                    <a:lumMod val="65000"/>
                  </a:schemeClr>
                </a:solidFill>
              </a:rPr>
              <a:t>Diseño MODULAR: Escalable</a:t>
            </a:r>
            <a:endParaRPr lang="es-PE" sz="2400" dirty="0">
              <a:solidFill>
                <a:schemeClr val="bg1">
                  <a:lumMod val="65000"/>
                </a:schemeClr>
              </a:solidFill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/>
              <a:t>Basado en un MICROCONTROLADOR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990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pic>
        <p:nvPicPr>
          <p:cNvPr id="17" name="Marcador de contenido 1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505" y="2034916"/>
            <a:ext cx="980660" cy="1961319"/>
          </a:xfr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836" y="2195519"/>
            <a:ext cx="998670" cy="998670"/>
          </a:xfrm>
          <a:prstGeom prst="rect">
            <a:avLst/>
          </a:prstGeom>
          <a:scene3d>
            <a:camera prst="orthographicFront">
              <a:rot lat="0" lon="0" rev="6300000"/>
            </a:camera>
            <a:lightRig rig="threePt" dir="t"/>
          </a:scene3d>
        </p:spPr>
      </p:pic>
      <p:sp>
        <p:nvSpPr>
          <p:cNvPr id="8" name="Rectángulo redondeado 7"/>
          <p:cNvSpPr/>
          <p:nvPr/>
        </p:nvSpPr>
        <p:spPr>
          <a:xfrm>
            <a:off x="5415437" y="3194189"/>
            <a:ext cx="1925052" cy="1046748"/>
          </a:xfrm>
          <a:prstGeom prst="roundRect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Prototipo</a:t>
            </a:r>
          </a:p>
        </p:txBody>
      </p:sp>
      <p:cxnSp>
        <p:nvCxnSpPr>
          <p:cNvPr id="11" name="Conector recto de flecha 10"/>
          <p:cNvCxnSpPr>
            <a:endCxn id="8" idx="1"/>
          </p:cNvCxnSpPr>
          <p:nvPr/>
        </p:nvCxnSpPr>
        <p:spPr>
          <a:xfrm>
            <a:off x="2888673" y="3044536"/>
            <a:ext cx="2526764" cy="6730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>
            <a:stCxn id="8" idx="3"/>
            <a:endCxn id="17" idx="1"/>
          </p:cNvCxnSpPr>
          <p:nvPr/>
        </p:nvCxnSpPr>
        <p:spPr>
          <a:xfrm flipV="1">
            <a:off x="7340489" y="3015576"/>
            <a:ext cx="2275016" cy="701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2764506" y="2178741"/>
            <a:ext cx="1865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smtClean="0"/>
              <a:t>Latitud</a:t>
            </a:r>
            <a:r>
              <a:rPr lang="es-PE" sz="1400" dirty="0"/>
              <a:t>: -</a:t>
            </a:r>
            <a:r>
              <a:rPr lang="es-PE" sz="1400" dirty="0" smtClean="0"/>
              <a:t>12.180750</a:t>
            </a:r>
          </a:p>
          <a:p>
            <a:r>
              <a:rPr lang="es-PE" sz="1400" dirty="0"/>
              <a:t>Longitud: -76.994984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936207" y="3780075"/>
            <a:ext cx="1462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 smtClean="0">
                <a:solidFill>
                  <a:srgbClr val="00B050"/>
                </a:solidFill>
              </a:rPr>
              <a:t>RECEPTOR</a:t>
            </a:r>
            <a:endParaRPr lang="es-PE" b="1" dirty="0">
              <a:solidFill>
                <a:srgbClr val="00B050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478056" y="5071411"/>
            <a:ext cx="3716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dirty="0" smtClean="0"/>
              <a:t>Receptor </a:t>
            </a:r>
            <a:r>
              <a:rPr lang="es-PE" sz="2400" b="1" dirty="0" smtClean="0"/>
              <a:t>GPS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dirty="0" smtClean="0"/>
              <a:t>Transmisor </a:t>
            </a:r>
            <a:r>
              <a:rPr lang="es-PE" sz="2400" b="1" dirty="0" smtClean="0"/>
              <a:t>GSM/GPRS</a:t>
            </a:r>
            <a:endParaRPr lang="es-PE" sz="2400" b="1" dirty="0"/>
          </a:p>
        </p:txBody>
      </p:sp>
      <p:sp>
        <p:nvSpPr>
          <p:cNvPr id="28" name="CuadroTexto 27"/>
          <p:cNvSpPr txBox="1"/>
          <p:nvPr/>
        </p:nvSpPr>
        <p:spPr>
          <a:xfrm>
            <a:off x="7373147" y="3780075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 smtClean="0">
                <a:solidFill>
                  <a:srgbClr val="00B050"/>
                </a:solidFill>
              </a:rPr>
              <a:t>TRANSMISOR</a:t>
            </a:r>
            <a:endParaRPr lang="es-PE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1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5" r="11580" b="12468"/>
          <a:stretch/>
        </p:blipFill>
        <p:spPr>
          <a:xfrm rot="730320">
            <a:off x="2281459" y="4165005"/>
            <a:ext cx="1948318" cy="1864671"/>
          </a:xfrm>
          <a:prstGeom prst="rect">
            <a:avLst/>
          </a:prstGeom>
        </p:spPr>
      </p:pic>
      <p:sp>
        <p:nvSpPr>
          <p:cNvPr id="12" name="11 Marcador de contenido"/>
          <p:cNvSpPr>
            <a:spLocks noGrp="1"/>
          </p:cNvSpPr>
          <p:nvPr>
            <p:ph idx="1"/>
          </p:nvPr>
        </p:nvSpPr>
        <p:spPr>
          <a:xfrm>
            <a:off x="5561751" y="4310085"/>
            <a:ext cx="5115008" cy="1611377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Modem transmisor GSM/GPRS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Tecnología 2G y 2.5G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Velocidad de 56 a 114 Kbps</a:t>
            </a:r>
            <a:endParaRPr lang="es-ES" dirty="0"/>
          </a:p>
        </p:txBody>
      </p:sp>
      <p:cxnSp>
        <p:nvCxnSpPr>
          <p:cNvPr id="14" name="Conector recto 13"/>
          <p:cNvCxnSpPr/>
          <p:nvPr/>
        </p:nvCxnSpPr>
        <p:spPr>
          <a:xfrm>
            <a:off x="5134238" y="4160888"/>
            <a:ext cx="0" cy="190977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5264">
            <a:off x="2253864" y="1357606"/>
            <a:ext cx="1958023" cy="1628055"/>
          </a:xfrm>
          <a:prstGeom prst="rect">
            <a:avLst/>
          </a:prstGeom>
        </p:spPr>
      </p:pic>
      <p:cxnSp>
        <p:nvCxnSpPr>
          <p:cNvPr id="16" name="Conector recto 15"/>
          <p:cNvCxnSpPr/>
          <p:nvPr/>
        </p:nvCxnSpPr>
        <p:spPr>
          <a:xfrm>
            <a:off x="5120878" y="1127028"/>
            <a:ext cx="0" cy="190977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1 Marcador de contenido"/>
          <p:cNvSpPr txBox="1">
            <a:spLocks/>
          </p:cNvSpPr>
          <p:nvPr/>
        </p:nvSpPr>
        <p:spPr>
          <a:xfrm>
            <a:off x="5561751" y="1282006"/>
            <a:ext cx="5115008" cy="161137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Receptor GPS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Decodifica datos de posición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Estándar NMEA</a:t>
            </a:r>
            <a:endParaRPr lang="es-ES" dirty="0"/>
          </a:p>
        </p:txBody>
      </p:sp>
      <p:sp>
        <p:nvSpPr>
          <p:cNvPr id="3" name="2 Rectángulo redondeado"/>
          <p:cNvSpPr/>
          <p:nvPr/>
        </p:nvSpPr>
        <p:spPr>
          <a:xfrm>
            <a:off x="2114589" y="4008439"/>
            <a:ext cx="2366832" cy="210075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 redondeado"/>
          <p:cNvSpPr/>
          <p:nvPr/>
        </p:nvSpPr>
        <p:spPr>
          <a:xfrm>
            <a:off x="2114591" y="1047870"/>
            <a:ext cx="2366832" cy="210075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2493843" y="599084"/>
            <a:ext cx="1608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 smtClean="0">
                <a:solidFill>
                  <a:srgbClr val="00B050"/>
                </a:solidFill>
              </a:rPr>
              <a:t>RECEPTOR</a:t>
            </a:r>
            <a:endParaRPr lang="es-ES" sz="2000" b="1" dirty="0">
              <a:solidFill>
                <a:srgbClr val="00B050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2342456" y="3580455"/>
            <a:ext cx="1911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 smtClean="0">
                <a:solidFill>
                  <a:srgbClr val="00B050"/>
                </a:solidFill>
              </a:rPr>
              <a:t>TRANSMISOR</a:t>
            </a:r>
            <a:endParaRPr lang="es-E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53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3556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  <a:p>
            <a:pPr algn="ctr"/>
            <a:r>
              <a:rPr lang="es-ES" sz="3600" b="1" dirty="0" smtClean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  <a:endParaRPr lang="es-ES" sz="3600" b="1" dirty="0">
              <a:solidFill>
                <a:srgbClr val="0070C0"/>
              </a:solidFill>
            </a:endParaRPr>
          </a:p>
        </p:txBody>
      </p:sp>
      <p:sp>
        <p:nvSpPr>
          <p:cNvPr id="4" name="CuadroTexto 4"/>
          <p:cNvSpPr txBox="1"/>
          <p:nvPr/>
        </p:nvSpPr>
        <p:spPr>
          <a:xfrm>
            <a:off x="4606833" y="2774326"/>
            <a:ext cx="63323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>
                <a:solidFill>
                  <a:schemeClr val="bg1">
                    <a:lumMod val="65000"/>
                  </a:schemeClr>
                </a:solidFill>
              </a:rPr>
              <a:t>Diseño MODULAR: Escalable</a:t>
            </a:r>
            <a:endParaRPr lang="es-PE" sz="2400" dirty="0">
              <a:solidFill>
                <a:schemeClr val="bg1">
                  <a:lumMod val="65000"/>
                </a:schemeClr>
              </a:solidFill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>
                <a:solidFill>
                  <a:schemeClr val="bg1">
                    <a:lumMod val="65000"/>
                  </a:schemeClr>
                </a:solidFill>
              </a:rPr>
              <a:t>Basado en un MICROCONTROLADOR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Receptor GPS y transmisor GSM/GPRS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PE" sz="2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30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5078187"/>
            <a:ext cx="6313714" cy="1098776"/>
          </a:xfrm>
        </p:spPr>
        <p:txBody>
          <a:bodyPr>
            <a:normAutofit/>
          </a:bodyPr>
          <a:lstStyle/>
          <a:p>
            <a:r>
              <a:rPr lang="es-PE" dirty="0"/>
              <a:t>Conexión de un Sensor magnético</a:t>
            </a:r>
          </a:p>
          <a:p>
            <a:r>
              <a:rPr lang="es-PE" dirty="0" smtClean="0"/>
              <a:t>Empleo de una CAMARA IR serial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542" y="4284710"/>
            <a:ext cx="4067989" cy="1830595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266" y="1831168"/>
            <a:ext cx="4547835" cy="2807212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009" y="2012042"/>
            <a:ext cx="1717221" cy="1717221"/>
          </a:xfrm>
          <a:prstGeom prst="rect">
            <a:avLst/>
          </a:prstGeom>
        </p:spPr>
      </p:pic>
      <p:sp>
        <p:nvSpPr>
          <p:cNvPr id="7" name="6 Elipse"/>
          <p:cNvSpPr/>
          <p:nvPr/>
        </p:nvSpPr>
        <p:spPr>
          <a:xfrm>
            <a:off x="9034645" y="5480314"/>
            <a:ext cx="360260" cy="325583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Elipse"/>
          <p:cNvSpPr/>
          <p:nvPr/>
        </p:nvSpPr>
        <p:spPr>
          <a:xfrm>
            <a:off x="9031872" y="2012042"/>
            <a:ext cx="2070830" cy="1841500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5" name="14 Conector recto"/>
          <p:cNvCxnSpPr>
            <a:stCxn id="7" idx="2"/>
            <a:endCxn id="13" idx="2"/>
          </p:cNvCxnSpPr>
          <p:nvPr/>
        </p:nvCxnSpPr>
        <p:spPr>
          <a:xfrm flipH="1" flipV="1">
            <a:off x="9031872" y="2932792"/>
            <a:ext cx="2773" cy="27103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>
            <a:stCxn id="7" idx="5"/>
            <a:endCxn id="13" idx="5"/>
          </p:cNvCxnSpPr>
          <p:nvPr/>
        </p:nvCxnSpPr>
        <p:spPr>
          <a:xfrm flipV="1">
            <a:off x="9342146" y="3583861"/>
            <a:ext cx="1457290" cy="217435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 de flecha"/>
          <p:cNvCxnSpPr/>
          <p:nvPr/>
        </p:nvCxnSpPr>
        <p:spPr>
          <a:xfrm flipH="1" flipV="1">
            <a:off x="6515101" y="3412671"/>
            <a:ext cx="2383970" cy="1583872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99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29300" y="2379461"/>
            <a:ext cx="4347853" cy="2041069"/>
          </a:xfrm>
        </p:spPr>
        <p:txBody>
          <a:bodyPr>
            <a:normAutofit fontScale="92500" lnSpcReduction="20000"/>
          </a:bodyPr>
          <a:lstStyle/>
          <a:p>
            <a:r>
              <a:rPr lang="es-PE" dirty="0" smtClean="0"/>
              <a:t>Resolución: VGA/QVGA</a:t>
            </a:r>
          </a:p>
          <a:p>
            <a:r>
              <a:rPr lang="es-PE" dirty="0" smtClean="0"/>
              <a:t>Capturas JPEG</a:t>
            </a:r>
          </a:p>
          <a:p>
            <a:r>
              <a:rPr lang="es-PE" dirty="0" smtClean="0"/>
              <a:t>Sensor IR: automático</a:t>
            </a:r>
          </a:p>
          <a:p>
            <a:r>
              <a:rPr lang="es-PE" dirty="0" smtClean="0"/>
              <a:t>Consumo: 80mA</a:t>
            </a:r>
          </a:p>
          <a:p>
            <a:r>
              <a:rPr lang="es-PE" dirty="0" smtClean="0"/>
              <a:t>Comunicación serial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8" b="22364"/>
          <a:stretch/>
        </p:blipFill>
        <p:spPr>
          <a:xfrm>
            <a:off x="1907475" y="2265157"/>
            <a:ext cx="3030682" cy="2082905"/>
          </a:xfrm>
          <a:prstGeom prst="rect">
            <a:avLst/>
          </a:prstGeom>
        </p:spPr>
      </p:pic>
      <p:cxnSp>
        <p:nvCxnSpPr>
          <p:cNvPr id="5" name="Conector recto 13"/>
          <p:cNvCxnSpPr/>
          <p:nvPr/>
        </p:nvCxnSpPr>
        <p:spPr>
          <a:xfrm>
            <a:off x="5370615" y="2318240"/>
            <a:ext cx="0" cy="210075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40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4171235" y="1925975"/>
            <a:ext cx="3548002" cy="44173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4" name="Rectángulo redondeado 3"/>
          <p:cNvSpPr/>
          <p:nvPr/>
        </p:nvSpPr>
        <p:spPr>
          <a:xfrm>
            <a:off x="4601634" y="5182275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PLATAFORMA</a:t>
            </a:r>
          </a:p>
        </p:txBody>
      </p:sp>
      <p:sp>
        <p:nvSpPr>
          <p:cNvPr id="14" name="Rectángulo redondeado 3"/>
          <p:cNvSpPr/>
          <p:nvPr/>
        </p:nvSpPr>
        <p:spPr>
          <a:xfrm>
            <a:off x="4603709" y="4082336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RECEPTOR</a:t>
            </a:r>
          </a:p>
        </p:txBody>
      </p:sp>
      <p:sp>
        <p:nvSpPr>
          <p:cNvPr id="15" name="Rectángulo redondeado 3"/>
          <p:cNvSpPr/>
          <p:nvPr/>
        </p:nvSpPr>
        <p:spPr>
          <a:xfrm>
            <a:off x="4601635" y="3062149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CAMARA</a:t>
            </a:r>
          </a:p>
        </p:txBody>
      </p:sp>
      <p:sp>
        <p:nvSpPr>
          <p:cNvPr id="16" name="Rectángulo redondeado 3"/>
          <p:cNvSpPr/>
          <p:nvPr/>
        </p:nvSpPr>
        <p:spPr>
          <a:xfrm>
            <a:off x="4634374" y="2030809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MODEM TRANSMISOR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5100197" y="1472702"/>
            <a:ext cx="1690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PROTOTIPO</a:t>
            </a:r>
            <a:endParaRPr lang="es-ES" sz="2000" b="1" dirty="0">
              <a:solidFill>
                <a:srgbClr val="0070C0"/>
              </a:solidFill>
            </a:endParaRPr>
          </a:p>
        </p:txBody>
      </p:sp>
      <p:pic>
        <p:nvPicPr>
          <p:cNvPr id="17" name="Imagen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5" r="11580" b="12468"/>
          <a:stretch/>
        </p:blipFill>
        <p:spPr>
          <a:xfrm rot="730320">
            <a:off x="9001627" y="2123466"/>
            <a:ext cx="1915064" cy="1832844"/>
          </a:xfrm>
          <a:prstGeom prst="rect">
            <a:avLst/>
          </a:prstGeom>
        </p:spPr>
      </p:pic>
      <p:pic>
        <p:nvPicPr>
          <p:cNvPr id="19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10706">
            <a:off x="1439510" y="4786089"/>
            <a:ext cx="1612166" cy="1340481"/>
          </a:xfrm>
          <a:prstGeom prst="rect">
            <a:avLst/>
          </a:prstGeom>
        </p:spPr>
      </p:pic>
      <p:pic>
        <p:nvPicPr>
          <p:cNvPr id="21" name="20 Imagen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3" b="11623"/>
          <a:stretch/>
        </p:blipFill>
        <p:spPr>
          <a:xfrm>
            <a:off x="1576754" y="2893512"/>
            <a:ext cx="1382287" cy="1070084"/>
          </a:xfrm>
          <a:prstGeom prst="rect">
            <a:avLst/>
          </a:prstGeom>
        </p:spPr>
      </p:pic>
      <p:pic>
        <p:nvPicPr>
          <p:cNvPr id="13" name="12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816" y="4852612"/>
            <a:ext cx="1917044" cy="149067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9019851" y="1975386"/>
            <a:ext cx="188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GSM/GPRS</a:t>
            </a:r>
          </a:p>
          <a:p>
            <a:pPr algn="ctr"/>
            <a:r>
              <a:rPr lang="es-ES" dirty="0" smtClean="0"/>
              <a:t>SIM900</a:t>
            </a:r>
            <a:endParaRPr lang="es-ES" dirty="0"/>
          </a:p>
        </p:txBody>
      </p:sp>
      <p:sp>
        <p:nvSpPr>
          <p:cNvPr id="20" name="7 CuadroTexto"/>
          <p:cNvSpPr txBox="1"/>
          <p:nvPr/>
        </p:nvSpPr>
        <p:spPr>
          <a:xfrm>
            <a:off x="1648893" y="2329180"/>
            <a:ext cx="1348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LinkSprite</a:t>
            </a:r>
            <a:endParaRPr lang="es-ES" dirty="0" smtClean="0"/>
          </a:p>
          <a:p>
            <a:r>
              <a:rPr lang="es-ES" dirty="0" smtClean="0"/>
              <a:t>Sen11610</a:t>
            </a:r>
            <a:endParaRPr lang="es-ES" dirty="0"/>
          </a:p>
        </p:txBody>
      </p:sp>
      <p:sp>
        <p:nvSpPr>
          <p:cNvPr id="23" name="7 CuadroTexto"/>
          <p:cNvSpPr txBox="1"/>
          <p:nvPr/>
        </p:nvSpPr>
        <p:spPr>
          <a:xfrm>
            <a:off x="1813921" y="4344514"/>
            <a:ext cx="188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Skylab</a:t>
            </a:r>
            <a:endParaRPr lang="es-ES" dirty="0" smtClean="0"/>
          </a:p>
          <a:p>
            <a:r>
              <a:rPr lang="es-ES" dirty="0" smtClean="0"/>
              <a:t>SKM53</a:t>
            </a:r>
            <a:endParaRPr lang="es-ES" dirty="0"/>
          </a:p>
        </p:txBody>
      </p:sp>
      <p:sp>
        <p:nvSpPr>
          <p:cNvPr id="24" name="7 CuadroTexto"/>
          <p:cNvSpPr txBox="1"/>
          <p:nvPr/>
        </p:nvSpPr>
        <p:spPr>
          <a:xfrm>
            <a:off x="9453398" y="4275613"/>
            <a:ext cx="1163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Arduino</a:t>
            </a:r>
            <a:endParaRPr lang="es-ES" dirty="0" smtClean="0"/>
          </a:p>
          <a:p>
            <a:r>
              <a:rPr lang="es-ES" dirty="0" smtClean="0"/>
              <a:t>UNO R3</a:t>
            </a:r>
          </a:p>
        </p:txBody>
      </p:sp>
      <p:sp>
        <p:nvSpPr>
          <p:cNvPr id="33" name="Rectángulo redondeado 32"/>
          <p:cNvSpPr/>
          <p:nvPr/>
        </p:nvSpPr>
        <p:spPr>
          <a:xfrm>
            <a:off x="1453893" y="4344514"/>
            <a:ext cx="1628008" cy="1626670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Rectángulo redondeado 34"/>
          <p:cNvSpPr/>
          <p:nvPr/>
        </p:nvSpPr>
        <p:spPr>
          <a:xfrm>
            <a:off x="8839960" y="4207015"/>
            <a:ext cx="2244696" cy="2136276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Rectángulo redondeado 35"/>
          <p:cNvSpPr/>
          <p:nvPr/>
        </p:nvSpPr>
        <p:spPr>
          <a:xfrm>
            <a:off x="1453893" y="2336926"/>
            <a:ext cx="1628008" cy="1626670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ángulo redondeado 36"/>
          <p:cNvSpPr/>
          <p:nvPr/>
        </p:nvSpPr>
        <p:spPr>
          <a:xfrm>
            <a:off x="8833670" y="1925975"/>
            <a:ext cx="2244696" cy="2136276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2" name="Conector recto de flecha 51"/>
          <p:cNvCxnSpPr>
            <a:stCxn id="35" idx="1"/>
            <a:endCxn id="4" idx="3"/>
          </p:cNvCxnSpPr>
          <p:nvPr/>
        </p:nvCxnSpPr>
        <p:spPr>
          <a:xfrm flipH="1">
            <a:off x="7340601" y="5275153"/>
            <a:ext cx="1499359" cy="38291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>
            <a:stCxn id="37" idx="1"/>
          </p:cNvCxnSpPr>
          <p:nvPr/>
        </p:nvCxnSpPr>
        <p:spPr>
          <a:xfrm flipH="1" flipV="1">
            <a:off x="7373341" y="2586355"/>
            <a:ext cx="1460329" cy="40775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/>
          <p:cNvCxnSpPr>
            <a:stCxn id="33" idx="3"/>
            <a:endCxn id="14" idx="1"/>
          </p:cNvCxnSpPr>
          <p:nvPr/>
        </p:nvCxnSpPr>
        <p:spPr>
          <a:xfrm flipV="1">
            <a:off x="3081901" y="4558130"/>
            <a:ext cx="1521808" cy="599719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/>
          <p:cNvCxnSpPr>
            <a:stCxn id="36" idx="3"/>
            <a:endCxn id="15" idx="1"/>
          </p:cNvCxnSpPr>
          <p:nvPr/>
        </p:nvCxnSpPr>
        <p:spPr>
          <a:xfrm>
            <a:off x="3081901" y="3150261"/>
            <a:ext cx="1519734" cy="38768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4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3" grpId="0"/>
      <p:bldP spid="24" grpId="0"/>
      <p:bldP spid="33" grpId="0" animBg="1"/>
      <p:bldP spid="35" grpId="0" animBg="1"/>
      <p:bldP spid="36" grpId="0" animBg="1"/>
      <p:bldP spid="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3556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  <a:p>
            <a:pPr algn="ctr"/>
            <a:r>
              <a:rPr lang="es-ES" sz="3600" b="1" dirty="0" smtClean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  <a:endParaRPr lang="es-ES" sz="3600" b="1" dirty="0">
              <a:solidFill>
                <a:srgbClr val="0070C0"/>
              </a:solidFill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4607554" y="2774326"/>
            <a:ext cx="55816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ES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CuadroTexto 4"/>
          <p:cNvSpPr txBox="1"/>
          <p:nvPr/>
        </p:nvSpPr>
        <p:spPr>
          <a:xfrm>
            <a:off x="4606833" y="2774326"/>
            <a:ext cx="624735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Diseño MODULAR: Escalable</a:t>
            </a:r>
            <a:endParaRPr lang="es-PE" sz="2400" dirty="0"/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/>
              <a:t>Basado en un MICROCONTROLADOR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Receptor GPS y transmisor GSM/GPRS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CAMARA IR y sensor magnético</a:t>
            </a:r>
          </a:p>
          <a:p>
            <a:pPr marL="571500" indent="-571500">
              <a:buFont typeface="Arial" pitchFamily="34" charset="0"/>
              <a:buChar char="•"/>
            </a:pP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34124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2. Implementación</a:t>
            </a:r>
            <a:endParaRPr lang="es-PE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924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2. Implementación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878286" y="4849585"/>
            <a:ext cx="4539344" cy="1327377"/>
          </a:xfrm>
        </p:spPr>
        <p:txBody>
          <a:bodyPr>
            <a:normAutofit lnSpcReduction="10000"/>
          </a:bodyPr>
          <a:lstStyle/>
          <a:p>
            <a:r>
              <a:rPr lang="es-ES" dirty="0"/>
              <a:t>Entorno de </a:t>
            </a:r>
            <a:r>
              <a:rPr lang="es-ES" dirty="0" smtClean="0"/>
              <a:t>desarrollo</a:t>
            </a:r>
          </a:p>
          <a:p>
            <a:r>
              <a:rPr lang="es-ES" dirty="0" smtClean="0"/>
              <a:t>Programación del microcontrolador </a:t>
            </a:r>
            <a:r>
              <a:rPr lang="es-ES" dirty="0" err="1" smtClean="0"/>
              <a:t>Atmel</a:t>
            </a:r>
            <a:endParaRPr lang="es-E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7" t="13194" r="18921" b="9259"/>
          <a:stretch/>
        </p:blipFill>
        <p:spPr bwMode="auto">
          <a:xfrm>
            <a:off x="1592164" y="1861458"/>
            <a:ext cx="3718854" cy="443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6074228" y="1861458"/>
            <a:ext cx="34827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void</a:t>
            </a:r>
            <a:r>
              <a:rPr lang="es-ES" dirty="0" smtClean="0"/>
              <a:t> </a:t>
            </a:r>
            <a:r>
              <a:rPr lang="es-ES" dirty="0" err="1" smtClean="0"/>
              <a:t>setup</a:t>
            </a:r>
            <a:r>
              <a:rPr lang="es-ES" dirty="0" smtClean="0"/>
              <a:t>()</a:t>
            </a:r>
          </a:p>
          <a:p>
            <a:r>
              <a:rPr lang="es-ES" dirty="0" err="1" smtClean="0"/>
              <a:t>Funcion</a:t>
            </a:r>
            <a:r>
              <a:rPr lang="es-ES" dirty="0" smtClean="0"/>
              <a:t> inicial</a:t>
            </a:r>
          </a:p>
          <a:p>
            <a:r>
              <a:rPr lang="es-ES" dirty="0" smtClean="0"/>
              <a:t>Inicia estados I/Os, puertos, etc.</a:t>
            </a:r>
          </a:p>
          <a:p>
            <a:r>
              <a:rPr lang="es-ES" dirty="0" smtClean="0"/>
              <a:t>Corre una sola vez</a:t>
            </a:r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6074228" y="3265715"/>
            <a:ext cx="34827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void</a:t>
            </a:r>
            <a:r>
              <a:rPr lang="es-ES" dirty="0" smtClean="0"/>
              <a:t> </a:t>
            </a:r>
            <a:r>
              <a:rPr lang="es-ES" dirty="0" err="1" smtClean="0"/>
              <a:t>loop</a:t>
            </a:r>
            <a:r>
              <a:rPr lang="es-ES" dirty="0" smtClean="0"/>
              <a:t>()</a:t>
            </a:r>
          </a:p>
          <a:p>
            <a:r>
              <a:rPr lang="es-ES" dirty="0" err="1" smtClean="0"/>
              <a:t>Funcion</a:t>
            </a:r>
            <a:r>
              <a:rPr lang="es-ES" dirty="0" smtClean="0"/>
              <a:t> principal</a:t>
            </a:r>
          </a:p>
          <a:p>
            <a:r>
              <a:rPr lang="es-ES" dirty="0" smtClean="0"/>
              <a:t>Inicia estados I/Os, puertos, etc.</a:t>
            </a:r>
          </a:p>
          <a:p>
            <a:r>
              <a:rPr lang="es-ES" dirty="0" smtClean="0"/>
              <a:t>Corre una sola vez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049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3. </a:t>
            </a:r>
            <a:r>
              <a:rPr lang="es-PE" dirty="0" smtClean="0"/>
              <a:t>Funcionamiento</a:t>
            </a:r>
            <a:endParaRPr lang="es-PE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814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ejor Presentaci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4239</TotalTime>
  <Words>418</Words>
  <Application>Microsoft Office PowerPoint</Application>
  <PresentationFormat>Personalizado</PresentationFormat>
  <Paragraphs>151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Telelocalización y Captura de Imágenes</vt:lpstr>
      <vt:lpstr>Telelocalización y Captura de Imágenes</vt:lpstr>
      <vt:lpstr>Telelocalización y Captura de Imágenes</vt:lpstr>
      <vt:lpstr>OBJETIVOS</vt:lpstr>
      <vt:lpstr>IMPORTANCIA</vt:lpstr>
      <vt:lpstr>PROBLEMATICA</vt:lpstr>
      <vt:lpstr>Presentación de PowerPoint</vt:lpstr>
      <vt:lpstr>1. Hardware</vt:lpstr>
      <vt:lpstr>1. HARDWARE</vt:lpstr>
      <vt:lpstr>Presentación de PowerPoint</vt:lpstr>
      <vt:lpstr>1. HARDWARE</vt:lpstr>
      <vt:lpstr>1. HARDWARE</vt:lpstr>
      <vt:lpstr>Presentación de PowerPoint</vt:lpstr>
      <vt:lpstr>1. HARDWARE</vt:lpstr>
      <vt:lpstr>Presentación de PowerPoint</vt:lpstr>
      <vt:lpstr>Presentación de PowerPoint</vt:lpstr>
      <vt:lpstr>1. HARDWARE</vt:lpstr>
      <vt:lpstr>1. HARDWARE</vt:lpstr>
      <vt:lpstr>1. HARDWARE</vt:lpstr>
      <vt:lpstr>Presentación de PowerPoint</vt:lpstr>
      <vt:lpstr>2. Implementación</vt:lpstr>
      <vt:lpstr>2. Implementación</vt:lpstr>
      <vt:lpstr>3. Funcionamiento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Telelocalización y Captura de Imágenes</dc:title>
  <dc:creator>moniyabel</dc:creator>
  <cp:lastModifiedBy>TECNICA</cp:lastModifiedBy>
  <cp:revision>144</cp:revision>
  <dcterms:created xsi:type="dcterms:W3CDTF">2015-11-22T04:05:58Z</dcterms:created>
  <dcterms:modified xsi:type="dcterms:W3CDTF">2015-12-10T23:29:31Z</dcterms:modified>
</cp:coreProperties>
</file>