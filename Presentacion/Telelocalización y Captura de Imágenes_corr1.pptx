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5" r:id="rId6"/>
    <p:sldId id="259" r:id="rId7"/>
    <p:sldId id="286" r:id="rId8"/>
    <p:sldId id="264" r:id="rId9"/>
    <p:sldId id="271" r:id="rId10"/>
    <p:sldId id="267" r:id="rId11"/>
    <p:sldId id="275" r:id="rId12"/>
    <p:sldId id="268" r:id="rId13"/>
    <p:sldId id="281" r:id="rId14"/>
    <p:sldId id="272" r:id="rId15"/>
    <p:sldId id="282" r:id="rId16"/>
    <p:sldId id="287" r:id="rId17"/>
    <p:sldId id="285" r:id="rId18"/>
    <p:sldId id="276" r:id="rId19"/>
    <p:sldId id="284" r:id="rId20"/>
    <p:sldId id="288" r:id="rId21"/>
    <p:sldId id="306" r:id="rId22"/>
    <p:sldId id="307" r:id="rId23"/>
    <p:sldId id="308" r:id="rId24"/>
    <p:sldId id="290" r:id="rId25"/>
    <p:sldId id="292" r:id="rId26"/>
    <p:sldId id="291" r:id="rId27"/>
    <p:sldId id="293" r:id="rId28"/>
    <p:sldId id="294" r:id="rId29"/>
    <p:sldId id="295" r:id="rId30"/>
    <p:sldId id="300" r:id="rId31"/>
    <p:sldId id="296" r:id="rId32"/>
    <p:sldId id="297" r:id="rId33"/>
    <p:sldId id="301" r:id="rId34"/>
    <p:sldId id="298" r:id="rId35"/>
    <p:sldId id="303" r:id="rId36"/>
    <p:sldId id="309" r:id="rId37"/>
    <p:sldId id="304" r:id="rId38"/>
    <p:sldId id="305" r:id="rId39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62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3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12/12/2015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7754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12/12/2015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4883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12/12/2015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0877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12/12/2015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3788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12/12/2015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34000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12/12/2015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0140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12/12/2015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904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12/12/2015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93473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12/12/2015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38148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12/12/2015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550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66D49-C998-4448-A9A4-08248D17FD06}" type="datetimeFigureOut">
              <a:rPr lang="es-PE" smtClean="0"/>
              <a:t>12/12/2015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1605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66D49-C998-4448-A9A4-08248D17FD06}" type="datetimeFigureOut">
              <a:rPr lang="es-PE" smtClean="0"/>
              <a:t>12/12/2015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B1DEB-54BA-4EF0-87E7-FC0817C8C9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6600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Telelocalización y Captura de Imágenes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PE" sz="3600" dirty="0" smtClean="0"/>
              <a:t>Para Mejorar una Base de Datos Criminalística del Robo de Vehículos en la Ciudad de Lima</a:t>
            </a:r>
            <a:endParaRPr lang="es-PE" sz="3600" dirty="0"/>
          </a:p>
        </p:txBody>
      </p:sp>
      <p:cxnSp>
        <p:nvCxnSpPr>
          <p:cNvPr id="7" name="6 Conector recto"/>
          <p:cNvCxnSpPr/>
          <p:nvPr/>
        </p:nvCxnSpPr>
        <p:spPr>
          <a:xfrm>
            <a:off x="2788857" y="3494314"/>
            <a:ext cx="3239831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>
            <a:off x="6070893" y="3494314"/>
            <a:ext cx="3239831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088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 smtClean="0">
                <a:solidFill>
                  <a:srgbClr val="00B050"/>
                </a:solidFill>
              </a:rPr>
              <a:t>Telelocalización</a:t>
            </a:r>
            <a:r>
              <a:rPr lang="es-PE" dirty="0" smtClean="0"/>
              <a:t> y</a:t>
            </a:r>
            <a:br>
              <a:rPr lang="es-PE" dirty="0" smtClean="0"/>
            </a:br>
            <a:r>
              <a:rPr lang="es-PE" dirty="0" smtClean="0"/>
              <a:t>Captura de Imágenes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908753"/>
            <a:ext cx="10515600" cy="4351338"/>
          </a:xfrm>
        </p:spPr>
        <p:txBody>
          <a:bodyPr/>
          <a:lstStyle/>
          <a:p>
            <a:endParaRPr lang="es-PE" dirty="0" smtClean="0"/>
          </a:p>
          <a:p>
            <a:r>
              <a:rPr lang="es-PE" dirty="0" smtClean="0"/>
              <a:t>Localización remota en tiempo real</a:t>
            </a:r>
          </a:p>
          <a:p>
            <a:r>
              <a:rPr lang="es-PE" dirty="0" smtClean="0"/>
              <a:t>Basado en sistemas GPS y GSM</a:t>
            </a:r>
          </a:p>
          <a:p>
            <a:r>
              <a:rPr lang="es-PE" dirty="0" smtClean="0"/>
              <a:t>Uso de modem inalámbricos para la transmisión</a:t>
            </a:r>
          </a:p>
          <a:p>
            <a:r>
              <a:rPr lang="es-PE" dirty="0" smtClean="0"/>
              <a:t>Movilidad y comunicación</a:t>
            </a:r>
          </a:p>
          <a:p>
            <a:r>
              <a:rPr lang="es-PE" dirty="0" smtClean="0"/>
              <a:t>Enfocado a automóviles</a:t>
            </a:r>
          </a:p>
          <a:p>
            <a:pPr marL="0" indent="0">
              <a:buNone/>
            </a:pPr>
            <a:endParaRPr lang="es-PE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6385" y="4084422"/>
            <a:ext cx="3944389" cy="236609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88" b="21052"/>
          <a:stretch/>
        </p:blipFill>
        <p:spPr>
          <a:xfrm>
            <a:off x="6646718" y="5023429"/>
            <a:ext cx="2438400" cy="145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897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Telelocalización y</a:t>
            </a:r>
            <a:br>
              <a:rPr lang="es-PE" dirty="0" smtClean="0"/>
            </a:br>
            <a:r>
              <a:rPr lang="es-PE" b="1" dirty="0" smtClean="0">
                <a:solidFill>
                  <a:srgbClr val="0070C0"/>
                </a:solidFill>
              </a:rPr>
              <a:t>Captura de Imágenes</a:t>
            </a:r>
            <a:endParaRPr lang="es-PE" b="1" dirty="0">
              <a:solidFill>
                <a:srgbClr val="0070C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3913414" cy="4351338"/>
          </a:xfrm>
        </p:spPr>
        <p:txBody>
          <a:bodyPr/>
          <a:lstStyle/>
          <a:p>
            <a:endParaRPr lang="es-PE" dirty="0" smtClean="0"/>
          </a:p>
          <a:p>
            <a:r>
              <a:rPr lang="es-PE" dirty="0"/>
              <a:t>Uso de cámara infrarroja</a:t>
            </a:r>
          </a:p>
          <a:p>
            <a:r>
              <a:rPr lang="es-PE" dirty="0" smtClean="0"/>
              <a:t>Fotos del interior del vehículo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73" t="16753" r="16580" b="12078"/>
          <a:stretch/>
        </p:blipFill>
        <p:spPr>
          <a:xfrm>
            <a:off x="9207472" y="2096488"/>
            <a:ext cx="1960418" cy="190480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77"/>
          <a:stretch/>
        </p:blipFill>
        <p:spPr>
          <a:xfrm>
            <a:off x="4980214" y="2485262"/>
            <a:ext cx="4320776" cy="3032062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58602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 smtClean="0"/>
              <a:t>OBJETIVOS</a:t>
            </a:r>
            <a:endParaRPr lang="es-PE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306120" y="2192482"/>
            <a:ext cx="2576946" cy="1063048"/>
          </a:xfrm>
        </p:spPr>
        <p:txBody>
          <a:bodyPr>
            <a:noAutofit/>
          </a:bodyPr>
          <a:lstStyle/>
          <a:p>
            <a:r>
              <a:rPr lang="es-PE" sz="3200" dirty="0" smtClean="0"/>
              <a:t>Desarrollar un prototipo</a:t>
            </a:r>
            <a:endParaRPr lang="es-PE" sz="3200" dirty="0"/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838198" y="3026782"/>
            <a:ext cx="3089563" cy="1386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3200" dirty="0" smtClean="0">
                <a:solidFill>
                  <a:srgbClr val="00B050"/>
                </a:solidFill>
              </a:rPr>
              <a:t>Telelocalización</a:t>
            </a:r>
            <a:r>
              <a:rPr lang="es-PE" sz="3200" dirty="0" smtClean="0"/>
              <a:t> y </a:t>
            </a:r>
            <a:r>
              <a:rPr lang="es-PE" sz="3200" dirty="0" smtClean="0">
                <a:solidFill>
                  <a:srgbClr val="0070C0"/>
                </a:solidFill>
              </a:rPr>
              <a:t>Captura de Imágenes</a:t>
            </a:r>
            <a:endParaRPr lang="es-PE" sz="3200" dirty="0">
              <a:solidFill>
                <a:srgbClr val="0070C0"/>
              </a:solidFill>
            </a:endParaRPr>
          </a:p>
        </p:txBody>
      </p:sp>
      <p:sp>
        <p:nvSpPr>
          <p:cNvPr id="5" name="Marcador de contenido 2"/>
          <p:cNvSpPr txBox="1">
            <a:spLocks/>
          </p:cNvSpPr>
          <p:nvPr/>
        </p:nvSpPr>
        <p:spPr>
          <a:xfrm>
            <a:off x="4338309" y="4402776"/>
            <a:ext cx="2757879" cy="8550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3200" dirty="0" smtClean="0"/>
              <a:t>Implementar un servidor</a:t>
            </a:r>
            <a:endParaRPr lang="es-PE" sz="3200" dirty="0"/>
          </a:p>
        </p:txBody>
      </p:sp>
      <p:cxnSp>
        <p:nvCxnSpPr>
          <p:cNvPr id="7" name="Conector recto 6"/>
          <p:cNvCxnSpPr/>
          <p:nvPr/>
        </p:nvCxnSpPr>
        <p:spPr>
          <a:xfrm>
            <a:off x="4123707" y="2182089"/>
            <a:ext cx="0" cy="3075709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echa derecha 8"/>
          <p:cNvSpPr/>
          <p:nvPr/>
        </p:nvSpPr>
        <p:spPr>
          <a:xfrm rot="2464850">
            <a:off x="7191662" y="2514371"/>
            <a:ext cx="910935" cy="602793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Marcador de contenido 2"/>
          <p:cNvSpPr txBox="1">
            <a:spLocks/>
          </p:cNvSpPr>
          <p:nvPr/>
        </p:nvSpPr>
        <p:spPr>
          <a:xfrm>
            <a:off x="7975388" y="2940584"/>
            <a:ext cx="3491285" cy="1558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dirty="0" smtClean="0"/>
              <a:t>Incrementar una base de datos criminalística del robo de vehículos</a:t>
            </a:r>
            <a:endParaRPr lang="es-PE" dirty="0"/>
          </a:p>
        </p:txBody>
      </p:sp>
      <p:sp>
        <p:nvSpPr>
          <p:cNvPr id="13" name="Flecha derecha 8"/>
          <p:cNvSpPr/>
          <p:nvPr/>
        </p:nvSpPr>
        <p:spPr>
          <a:xfrm rot="19587048">
            <a:off x="7186881" y="4329270"/>
            <a:ext cx="910935" cy="602793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Marcador de contenido 2"/>
          <p:cNvSpPr txBox="1">
            <a:spLocks/>
          </p:cNvSpPr>
          <p:nvPr/>
        </p:nvSpPr>
        <p:spPr>
          <a:xfrm>
            <a:off x="5456541" y="3454183"/>
            <a:ext cx="449337" cy="5315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PE" sz="4000" b="1" dirty="0" smtClean="0"/>
              <a:t>+</a:t>
            </a:r>
            <a:endParaRPr lang="es-PE" sz="4000" b="1" dirty="0"/>
          </a:p>
        </p:txBody>
      </p:sp>
    </p:spTree>
    <p:extLst>
      <p:ext uri="{BB962C8B-B14F-4D97-AF65-F5344CB8AC3E}">
        <p14:creationId xmlns:p14="http://schemas.microsoft.com/office/powerpoint/2010/main" val="2993153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9" grpId="0" animBg="1"/>
      <p:bldP spid="12" grpId="0"/>
      <p:bldP spid="13" grpId="0" animBg="1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 redondeado"/>
          <p:cNvSpPr/>
          <p:nvPr/>
        </p:nvSpPr>
        <p:spPr>
          <a:xfrm>
            <a:off x="6371542" y="2171699"/>
            <a:ext cx="4598125" cy="3412671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Rectángulo redondeado"/>
          <p:cNvSpPr/>
          <p:nvPr/>
        </p:nvSpPr>
        <p:spPr>
          <a:xfrm>
            <a:off x="999315" y="2171700"/>
            <a:ext cx="4598125" cy="3412671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 smtClean="0"/>
              <a:t>IMPORTANCIA</a:t>
            </a:r>
            <a:endParaRPr lang="es-PE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66806" y="2365952"/>
            <a:ext cx="4637809" cy="29898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PE" b="1" dirty="0" smtClean="0"/>
              <a:t>Tecnológica</a:t>
            </a:r>
          </a:p>
          <a:p>
            <a:pPr marL="0" indent="0" algn="ctr">
              <a:buNone/>
            </a:pPr>
            <a:endParaRPr lang="es-PE" b="1" dirty="0" smtClean="0"/>
          </a:p>
          <a:p>
            <a:pPr lvl="1"/>
            <a:r>
              <a:rPr lang="es-PE" dirty="0" smtClean="0"/>
              <a:t>Hardware basado en módulos</a:t>
            </a:r>
          </a:p>
          <a:p>
            <a:pPr lvl="1"/>
            <a:r>
              <a:rPr lang="es-PE" dirty="0" smtClean="0"/>
              <a:t>Servidor básico con almacenamiento de imágenes</a:t>
            </a:r>
            <a:endParaRPr lang="es-PE" dirty="0"/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6371542" y="2365951"/>
            <a:ext cx="4279140" cy="303880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b="1" dirty="0" smtClean="0"/>
              <a:t>Social</a:t>
            </a:r>
          </a:p>
          <a:p>
            <a:pPr marL="0" indent="0" algn="ctr">
              <a:buNone/>
            </a:pPr>
            <a:endParaRPr lang="es-PE" b="1" dirty="0" smtClean="0"/>
          </a:p>
          <a:p>
            <a:pPr lvl="1"/>
            <a:r>
              <a:rPr lang="es-PE" dirty="0" smtClean="0"/>
              <a:t>Ubicar automóviles en caso de robo</a:t>
            </a:r>
          </a:p>
          <a:p>
            <a:pPr lvl="1"/>
            <a:r>
              <a:rPr lang="es-PE" dirty="0" smtClean="0"/>
              <a:t>Fotos del chofer y copiloto</a:t>
            </a:r>
          </a:p>
          <a:p>
            <a:pPr lvl="1"/>
            <a:r>
              <a:rPr lang="es-PE" dirty="0" smtClean="0"/>
              <a:t>Evidencia para las autoridades</a:t>
            </a:r>
          </a:p>
        </p:txBody>
      </p:sp>
    </p:spTree>
    <p:extLst>
      <p:ext uri="{BB962C8B-B14F-4D97-AF65-F5344CB8AC3E}">
        <p14:creationId xmlns:p14="http://schemas.microsoft.com/office/powerpoint/2010/main" val="178469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dirty="0" smtClean="0">
                <a:solidFill>
                  <a:srgbClr val="FF0000"/>
                </a:solidFill>
              </a:rPr>
              <a:t>PROBLEMATICA</a:t>
            </a:r>
            <a:endParaRPr lang="es-PE" b="1" dirty="0">
              <a:solidFill>
                <a:srgbClr val="FF000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Incremento del robo de automóviles</a:t>
            </a:r>
          </a:p>
          <a:p>
            <a:r>
              <a:rPr lang="es-PE" dirty="0" smtClean="0"/>
              <a:t>20 robos por día</a:t>
            </a:r>
          </a:p>
          <a:p>
            <a:r>
              <a:rPr lang="es-PE" dirty="0" smtClean="0"/>
              <a:t>46% del total de robos a nivel nacional ocurre en Lima</a:t>
            </a:r>
          </a:p>
          <a:p>
            <a:r>
              <a:rPr lang="es-PE" dirty="0" smtClean="0"/>
              <a:t>No existe evidencia</a:t>
            </a:r>
            <a:endParaRPr lang="es-PE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3218" y="4267436"/>
            <a:ext cx="2088572" cy="191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8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CuadroTexto 6"/>
          <p:cNvSpPr txBox="1"/>
          <p:nvPr/>
        </p:nvSpPr>
        <p:spPr>
          <a:xfrm>
            <a:off x="2312719" y="3085166"/>
            <a:ext cx="200567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>
                <a:solidFill>
                  <a:srgbClr val="00B050"/>
                </a:solidFill>
              </a:rPr>
              <a:t>Prototipo</a:t>
            </a:r>
          </a:p>
          <a:p>
            <a:endParaRPr lang="es-PE" sz="3200" dirty="0"/>
          </a:p>
        </p:txBody>
      </p:sp>
      <p:sp>
        <p:nvSpPr>
          <p:cNvPr id="8" name="CuadroTexto 7"/>
          <p:cNvSpPr txBox="1"/>
          <p:nvPr/>
        </p:nvSpPr>
        <p:spPr>
          <a:xfrm>
            <a:off x="7769306" y="4001294"/>
            <a:ext cx="18485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b="1" dirty="0" smtClean="0">
                <a:solidFill>
                  <a:srgbClr val="0070C0"/>
                </a:solidFill>
              </a:rPr>
              <a:t>Servidor</a:t>
            </a:r>
            <a:endParaRPr lang="es-ES" sz="3200" b="1" dirty="0">
              <a:solidFill>
                <a:srgbClr val="0070C0"/>
              </a:solidFill>
            </a:endParaRPr>
          </a:p>
          <a:p>
            <a:endParaRPr lang="es-PE" sz="3200" dirty="0">
              <a:solidFill>
                <a:srgbClr val="0070C0"/>
              </a:solidFill>
            </a:endParaRPr>
          </a:p>
        </p:txBody>
      </p:sp>
      <p:cxnSp>
        <p:nvCxnSpPr>
          <p:cNvPr id="10" name="Conector recto de flecha 9"/>
          <p:cNvCxnSpPr/>
          <p:nvPr/>
        </p:nvCxnSpPr>
        <p:spPr>
          <a:xfrm>
            <a:off x="2420725" y="3623775"/>
            <a:ext cx="3205795" cy="0"/>
          </a:xfrm>
          <a:prstGeom prst="straightConnector1">
            <a:avLst/>
          </a:prstGeom>
          <a:ln w="19050">
            <a:solidFill>
              <a:srgbClr val="00B05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/>
          <p:nvPr/>
        </p:nvCxnSpPr>
        <p:spPr>
          <a:xfrm flipH="1">
            <a:off x="6362286" y="4539903"/>
            <a:ext cx="3150363" cy="0"/>
          </a:xfrm>
          <a:prstGeom prst="straightConnector1">
            <a:avLst/>
          </a:prstGeom>
          <a:ln w="19050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/>
          <p:cNvSpPr/>
          <p:nvPr/>
        </p:nvSpPr>
        <p:spPr>
          <a:xfrm>
            <a:off x="4707925" y="2836718"/>
            <a:ext cx="2700794" cy="253100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 smtClean="0">
                <a:solidFill>
                  <a:schemeClr val="tx1"/>
                </a:solidFill>
              </a:rPr>
              <a:t>PROYECTO</a:t>
            </a:r>
            <a:endParaRPr lang="es-PE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35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939342" y="2360362"/>
            <a:ext cx="488627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s-PE" sz="4000" dirty="0" smtClean="0"/>
              <a:t>HARDWARE</a:t>
            </a:r>
          </a:p>
          <a:p>
            <a:pPr marL="342900" indent="-342900">
              <a:buAutoNum type="arabicPeriod"/>
            </a:pPr>
            <a:r>
              <a:rPr lang="es-PE" sz="4000" dirty="0" smtClean="0"/>
              <a:t>PROGRAMACION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2090057" y="2131754"/>
            <a:ext cx="2539293" cy="2423916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rgbClr val="00B050"/>
                </a:solidFill>
              </a:rPr>
              <a:t>Prototipo</a:t>
            </a:r>
          </a:p>
        </p:txBody>
      </p:sp>
    </p:spTree>
    <p:extLst>
      <p:ext uri="{BB962C8B-B14F-4D97-AF65-F5344CB8AC3E}">
        <p14:creationId xmlns:p14="http://schemas.microsoft.com/office/powerpoint/2010/main" val="1943624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1428017" y="2569997"/>
            <a:ext cx="5047014" cy="3482463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Flecha derecha"/>
          <p:cNvSpPr/>
          <p:nvPr/>
        </p:nvSpPr>
        <p:spPr>
          <a:xfrm rot="16200000">
            <a:off x="5825154" y="3813149"/>
            <a:ext cx="3311075" cy="824770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1. HARDWARE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893076" y="3397526"/>
            <a:ext cx="3841723" cy="2483546"/>
          </a:xfrm>
        </p:spPr>
        <p:txBody>
          <a:bodyPr/>
          <a:lstStyle/>
          <a:p>
            <a:r>
              <a:rPr lang="es-PE" dirty="0" smtClean="0"/>
              <a:t>Diseño MODULAR: Escalable</a:t>
            </a:r>
          </a:p>
          <a:p>
            <a:r>
              <a:rPr lang="es-PE" dirty="0"/>
              <a:t>Permite actualizar cada parte por </a:t>
            </a:r>
            <a:r>
              <a:rPr lang="es-PE" dirty="0" smtClean="0"/>
              <a:t>separado</a:t>
            </a:r>
            <a:endParaRPr lang="es-PE" dirty="0"/>
          </a:p>
        </p:txBody>
      </p:sp>
      <p:sp>
        <p:nvSpPr>
          <p:cNvPr id="4" name="Rectángulo redondeado 3"/>
          <p:cNvSpPr/>
          <p:nvPr/>
        </p:nvSpPr>
        <p:spPr>
          <a:xfrm>
            <a:off x="1780412" y="4812739"/>
            <a:ext cx="3101294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MICROCONTROLADOR</a:t>
            </a:r>
          </a:p>
        </p:txBody>
      </p:sp>
      <p:sp>
        <p:nvSpPr>
          <p:cNvPr id="14" name="Rectángulo redondeado 3"/>
          <p:cNvSpPr/>
          <p:nvPr/>
        </p:nvSpPr>
        <p:spPr>
          <a:xfrm>
            <a:off x="2315353" y="4122404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RECEPTOR</a:t>
            </a:r>
          </a:p>
        </p:txBody>
      </p:sp>
      <p:sp>
        <p:nvSpPr>
          <p:cNvPr id="15" name="Rectángulo redondeado 3"/>
          <p:cNvSpPr/>
          <p:nvPr/>
        </p:nvSpPr>
        <p:spPr>
          <a:xfrm>
            <a:off x="2874230" y="3487574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CAMARA</a:t>
            </a:r>
          </a:p>
        </p:txBody>
      </p:sp>
      <p:sp>
        <p:nvSpPr>
          <p:cNvPr id="16" name="Rectángulo redondeado 3"/>
          <p:cNvSpPr/>
          <p:nvPr/>
        </p:nvSpPr>
        <p:spPr>
          <a:xfrm>
            <a:off x="3492796" y="2798208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MODEM TRANSMISOR</a:t>
            </a:r>
          </a:p>
        </p:txBody>
      </p:sp>
      <p:sp>
        <p:nvSpPr>
          <p:cNvPr id="18" name="17 CuadroTexto"/>
          <p:cNvSpPr txBox="1"/>
          <p:nvPr/>
        </p:nvSpPr>
        <p:spPr>
          <a:xfrm>
            <a:off x="3191628" y="1985946"/>
            <a:ext cx="16900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smtClean="0">
                <a:solidFill>
                  <a:srgbClr val="0070C0"/>
                </a:solidFill>
              </a:rPr>
              <a:t>PROTOTIPO</a:t>
            </a:r>
            <a:endParaRPr lang="es-ES" sz="2000" b="1" dirty="0">
              <a:solidFill>
                <a:srgbClr val="0070C0"/>
              </a:solidFill>
            </a:endParaRPr>
          </a:p>
        </p:txBody>
      </p:sp>
      <p:sp>
        <p:nvSpPr>
          <p:cNvPr id="20" name="19 CuadroTexto"/>
          <p:cNvSpPr txBox="1"/>
          <p:nvPr/>
        </p:nvSpPr>
        <p:spPr>
          <a:xfrm>
            <a:off x="6678395" y="1985946"/>
            <a:ext cx="17572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smtClean="0">
                <a:solidFill>
                  <a:srgbClr val="00B050"/>
                </a:solidFill>
              </a:rPr>
              <a:t>ESCALABLE</a:t>
            </a:r>
            <a:endParaRPr lang="es-E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996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14" grpId="0" animBg="1"/>
      <p:bldP spid="15" grpId="0" animBg="1"/>
      <p:bldP spid="16" grpId="0" animBg="1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606833" y="2066440"/>
            <a:ext cx="3556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s-PE" sz="4000" dirty="0" smtClean="0"/>
              <a:t>HARDWARE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851072" y="2131754"/>
            <a:ext cx="2539293" cy="2423916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rgbClr val="00B050"/>
                </a:solidFill>
              </a:rPr>
              <a:t>Prototipo</a:t>
            </a:r>
          </a:p>
        </p:txBody>
      </p:sp>
      <p:sp>
        <p:nvSpPr>
          <p:cNvPr id="4" name="CuadroTexto 4"/>
          <p:cNvSpPr txBox="1"/>
          <p:nvPr/>
        </p:nvSpPr>
        <p:spPr>
          <a:xfrm>
            <a:off x="4606833" y="2774326"/>
            <a:ext cx="483267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/>
              <a:t>Diseño MODULAR: Escalable</a:t>
            </a:r>
            <a:endParaRPr lang="es-PE" sz="2400" dirty="0"/>
          </a:p>
          <a:p>
            <a:pPr marL="571500" indent="-571500">
              <a:buClr>
                <a:schemeClr val="bg1">
                  <a:lumMod val="65000"/>
                </a:schemeClr>
              </a:buClr>
              <a:buFont typeface="Arial" pitchFamily="34" charset="0"/>
              <a:buChar char="•"/>
            </a:pPr>
            <a:r>
              <a:rPr lang="es-PE" sz="2400" i="1" dirty="0" smtClean="0"/>
              <a:t> </a:t>
            </a:r>
          </a:p>
          <a:p>
            <a:pPr marL="571500" indent="-571500">
              <a:buClr>
                <a:schemeClr val="bg1">
                  <a:lumMod val="65000"/>
                </a:schemeClr>
              </a:buClr>
              <a:buFont typeface="Arial" pitchFamily="34" charset="0"/>
              <a:buChar char="•"/>
            </a:pPr>
            <a:r>
              <a:rPr lang="es-PE" sz="2400" dirty="0" smtClean="0"/>
              <a:t> </a:t>
            </a:r>
          </a:p>
          <a:p>
            <a:pPr marL="571500" indent="-571500">
              <a:buClr>
                <a:schemeClr val="bg1">
                  <a:lumMod val="65000"/>
                </a:schemeClr>
              </a:buClr>
              <a:buFont typeface="Arial" pitchFamily="34" charset="0"/>
              <a:buChar char="•"/>
            </a:pPr>
            <a:r>
              <a:rPr lang="es-PE" sz="2400" dirty="0"/>
              <a:t> </a:t>
            </a:r>
          </a:p>
          <a:p>
            <a:r>
              <a:rPr lang="es-PE" sz="24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357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1. HARDWARE</a:t>
            </a:r>
            <a:endParaRPr lang="es-ES" dirty="0"/>
          </a:p>
        </p:txBody>
      </p:sp>
      <p:sp>
        <p:nvSpPr>
          <p:cNvPr id="12" name="11 Marcador de contenido"/>
          <p:cNvSpPr>
            <a:spLocks noGrp="1"/>
          </p:cNvSpPr>
          <p:nvPr>
            <p:ph idx="1"/>
          </p:nvPr>
        </p:nvSpPr>
        <p:spPr>
          <a:xfrm>
            <a:off x="5517573" y="1953492"/>
            <a:ext cx="5836227" cy="4203618"/>
          </a:xfrm>
        </p:spPr>
        <p:txBody>
          <a:bodyPr/>
          <a:lstStyle/>
          <a:p>
            <a:r>
              <a:rPr lang="es-ES" dirty="0" smtClean="0"/>
              <a:t>Flash: 32 kb</a:t>
            </a:r>
          </a:p>
          <a:p>
            <a:r>
              <a:rPr lang="es-ES" dirty="0" smtClean="0"/>
              <a:t>SRAM: 2 kb</a:t>
            </a:r>
          </a:p>
          <a:p>
            <a:r>
              <a:rPr lang="es-ES" dirty="0" smtClean="0"/>
              <a:t>Frecuencia: 20 </a:t>
            </a:r>
            <a:r>
              <a:rPr lang="es-ES" dirty="0" err="1" smtClean="0"/>
              <a:t>Mhz</a:t>
            </a:r>
            <a:endParaRPr lang="es-ES" dirty="0" smtClean="0"/>
          </a:p>
          <a:p>
            <a:r>
              <a:rPr lang="es-ES" dirty="0" smtClean="0"/>
              <a:t>Pines de E/S: 26</a:t>
            </a:r>
          </a:p>
          <a:p>
            <a:r>
              <a:rPr lang="es-ES" dirty="0" smtClean="0"/>
              <a:t>Puerto serial: 1</a:t>
            </a:r>
          </a:p>
          <a:p>
            <a:r>
              <a:rPr lang="es-ES" dirty="0" smtClean="0"/>
              <a:t>Puerto serial software: n</a:t>
            </a:r>
          </a:p>
          <a:p>
            <a:r>
              <a:rPr lang="es-ES" dirty="0" smtClean="0"/>
              <a:t>Consumo: 4mA</a:t>
            </a:r>
          </a:p>
        </p:txBody>
      </p:sp>
      <p:pic>
        <p:nvPicPr>
          <p:cNvPr id="6" name="5 Imagen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51"/>
          <a:stretch/>
        </p:blipFill>
        <p:spPr>
          <a:xfrm>
            <a:off x="1600164" y="2172470"/>
            <a:ext cx="3265714" cy="2669694"/>
          </a:xfrm>
          <a:prstGeom prst="rect">
            <a:avLst/>
          </a:prstGeom>
        </p:spPr>
      </p:pic>
      <p:cxnSp>
        <p:nvCxnSpPr>
          <p:cNvPr id="5" name="Conector recto 13"/>
          <p:cNvCxnSpPr/>
          <p:nvPr/>
        </p:nvCxnSpPr>
        <p:spPr>
          <a:xfrm>
            <a:off x="5370615" y="1916049"/>
            <a:ext cx="0" cy="3721608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931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15" r="11580" b="12468"/>
          <a:stretch/>
        </p:blipFill>
        <p:spPr>
          <a:xfrm rot="730320">
            <a:off x="2281459" y="4165005"/>
            <a:ext cx="1948318" cy="1864671"/>
          </a:xfrm>
          <a:prstGeom prst="rect">
            <a:avLst/>
          </a:prstGeom>
        </p:spPr>
      </p:pic>
      <p:sp>
        <p:nvSpPr>
          <p:cNvPr id="12" name="11 Marcador de contenido"/>
          <p:cNvSpPr>
            <a:spLocks noGrp="1"/>
          </p:cNvSpPr>
          <p:nvPr>
            <p:ph idx="1"/>
          </p:nvPr>
        </p:nvSpPr>
        <p:spPr>
          <a:xfrm>
            <a:off x="5561751" y="4310085"/>
            <a:ext cx="5115008" cy="1611377"/>
          </a:xfrm>
          <a:solidFill>
            <a:schemeClr val="bg1"/>
          </a:solidFill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Modem transmisor GSM/GPRS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Tecnología 2G y 2.5G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Velocidad de 56 a 114 Kbps</a:t>
            </a:r>
            <a:endParaRPr lang="es-ES" dirty="0"/>
          </a:p>
        </p:txBody>
      </p:sp>
      <p:cxnSp>
        <p:nvCxnSpPr>
          <p:cNvPr id="14" name="Conector recto 13"/>
          <p:cNvCxnSpPr/>
          <p:nvPr/>
        </p:nvCxnSpPr>
        <p:spPr>
          <a:xfrm>
            <a:off x="5134238" y="4160888"/>
            <a:ext cx="0" cy="1909773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n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5264">
            <a:off x="2253864" y="1357606"/>
            <a:ext cx="1958023" cy="1628055"/>
          </a:xfrm>
          <a:prstGeom prst="rect">
            <a:avLst/>
          </a:prstGeom>
        </p:spPr>
      </p:pic>
      <p:cxnSp>
        <p:nvCxnSpPr>
          <p:cNvPr id="16" name="Conector recto 15"/>
          <p:cNvCxnSpPr/>
          <p:nvPr/>
        </p:nvCxnSpPr>
        <p:spPr>
          <a:xfrm>
            <a:off x="5120878" y="1127028"/>
            <a:ext cx="0" cy="1909773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1 Marcador de contenido"/>
          <p:cNvSpPr txBox="1">
            <a:spLocks/>
          </p:cNvSpPr>
          <p:nvPr/>
        </p:nvSpPr>
        <p:spPr>
          <a:xfrm>
            <a:off x="5561751" y="1282006"/>
            <a:ext cx="5115008" cy="161137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Receptor GPS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Decodifica datos de posición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ES" dirty="0" smtClean="0"/>
              <a:t>Estándar NMEA</a:t>
            </a:r>
            <a:endParaRPr lang="es-ES" dirty="0"/>
          </a:p>
        </p:txBody>
      </p:sp>
      <p:sp>
        <p:nvSpPr>
          <p:cNvPr id="3" name="2 Rectángulo redondeado"/>
          <p:cNvSpPr/>
          <p:nvPr/>
        </p:nvSpPr>
        <p:spPr>
          <a:xfrm>
            <a:off x="2114589" y="4008439"/>
            <a:ext cx="2366832" cy="2100750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Rectángulo redondeado"/>
          <p:cNvSpPr/>
          <p:nvPr/>
        </p:nvSpPr>
        <p:spPr>
          <a:xfrm>
            <a:off x="2114591" y="1047870"/>
            <a:ext cx="2366832" cy="2100750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CuadroTexto"/>
          <p:cNvSpPr txBox="1"/>
          <p:nvPr/>
        </p:nvSpPr>
        <p:spPr>
          <a:xfrm>
            <a:off x="2493843" y="599084"/>
            <a:ext cx="1608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b="1" dirty="0" smtClean="0">
                <a:solidFill>
                  <a:srgbClr val="00B050"/>
                </a:solidFill>
              </a:rPr>
              <a:t>RECEPTOR</a:t>
            </a:r>
            <a:endParaRPr lang="es-ES" sz="2000" b="1" dirty="0">
              <a:solidFill>
                <a:srgbClr val="00B050"/>
              </a:solidFill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2342456" y="3580455"/>
            <a:ext cx="19111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000" b="1" dirty="0" smtClean="0">
                <a:solidFill>
                  <a:srgbClr val="00B050"/>
                </a:solidFill>
              </a:rPr>
              <a:t>TRANSMISOR</a:t>
            </a:r>
            <a:endParaRPr lang="es-E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53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1. HARDWARE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29300" y="2379461"/>
            <a:ext cx="4347853" cy="2041069"/>
          </a:xfrm>
        </p:spPr>
        <p:txBody>
          <a:bodyPr>
            <a:normAutofit fontScale="92500" lnSpcReduction="20000"/>
          </a:bodyPr>
          <a:lstStyle/>
          <a:p>
            <a:r>
              <a:rPr lang="es-PE" dirty="0" smtClean="0"/>
              <a:t>Resolución: VGA/QVGA</a:t>
            </a:r>
          </a:p>
          <a:p>
            <a:r>
              <a:rPr lang="es-PE" dirty="0" smtClean="0"/>
              <a:t>Capturas JPEG</a:t>
            </a:r>
          </a:p>
          <a:p>
            <a:r>
              <a:rPr lang="es-PE" dirty="0" smtClean="0"/>
              <a:t>Sensor IR: automático</a:t>
            </a:r>
          </a:p>
          <a:p>
            <a:r>
              <a:rPr lang="es-PE" dirty="0" smtClean="0"/>
              <a:t>Consumo: 80mA</a:t>
            </a:r>
          </a:p>
          <a:p>
            <a:r>
              <a:rPr lang="es-PE" dirty="0" smtClean="0"/>
              <a:t>Comunicación serial</a:t>
            </a:r>
            <a:endParaRPr lang="es-PE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08" b="22364"/>
          <a:stretch/>
        </p:blipFill>
        <p:spPr>
          <a:xfrm>
            <a:off x="1907475" y="2265157"/>
            <a:ext cx="3030682" cy="2082905"/>
          </a:xfrm>
          <a:prstGeom prst="rect">
            <a:avLst/>
          </a:prstGeom>
        </p:spPr>
      </p:pic>
      <p:cxnSp>
        <p:nvCxnSpPr>
          <p:cNvPr id="5" name="Conector recto 13"/>
          <p:cNvCxnSpPr/>
          <p:nvPr/>
        </p:nvCxnSpPr>
        <p:spPr>
          <a:xfrm>
            <a:off x="5370615" y="2318240"/>
            <a:ext cx="0" cy="210075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406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1. HARDWARE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5078187"/>
            <a:ext cx="6313714" cy="1098776"/>
          </a:xfrm>
        </p:spPr>
        <p:txBody>
          <a:bodyPr>
            <a:normAutofit/>
          </a:bodyPr>
          <a:lstStyle/>
          <a:p>
            <a:r>
              <a:rPr lang="es-PE" dirty="0"/>
              <a:t>Conexión de un Sensor </a:t>
            </a:r>
            <a:r>
              <a:rPr lang="es-PE" dirty="0" smtClean="0"/>
              <a:t>magnético</a:t>
            </a:r>
            <a:endParaRPr lang="es-PE" dirty="0"/>
          </a:p>
        </p:txBody>
      </p:sp>
      <p:pic>
        <p:nvPicPr>
          <p:cNvPr id="4" name="3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542" y="4284710"/>
            <a:ext cx="4067989" cy="1830595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pic>
        <p:nvPicPr>
          <p:cNvPr id="6" name="5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009" y="2012042"/>
            <a:ext cx="1717221" cy="1717221"/>
          </a:xfrm>
          <a:prstGeom prst="rect">
            <a:avLst/>
          </a:prstGeom>
        </p:spPr>
      </p:pic>
      <p:sp>
        <p:nvSpPr>
          <p:cNvPr id="7" name="6 Elipse"/>
          <p:cNvSpPr/>
          <p:nvPr/>
        </p:nvSpPr>
        <p:spPr>
          <a:xfrm>
            <a:off x="9034645" y="5480314"/>
            <a:ext cx="360260" cy="325583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12 Elipse"/>
          <p:cNvSpPr/>
          <p:nvPr/>
        </p:nvSpPr>
        <p:spPr>
          <a:xfrm>
            <a:off x="9031872" y="2012042"/>
            <a:ext cx="2070830" cy="1841500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5" name="14 Conector recto"/>
          <p:cNvCxnSpPr>
            <a:stCxn id="7" idx="2"/>
            <a:endCxn id="13" idx="2"/>
          </p:cNvCxnSpPr>
          <p:nvPr/>
        </p:nvCxnSpPr>
        <p:spPr>
          <a:xfrm flipH="1" flipV="1">
            <a:off x="9031872" y="2932792"/>
            <a:ext cx="2773" cy="2710314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>
            <a:stCxn id="7" idx="5"/>
            <a:endCxn id="13" idx="5"/>
          </p:cNvCxnSpPr>
          <p:nvPr/>
        </p:nvCxnSpPr>
        <p:spPr>
          <a:xfrm flipV="1">
            <a:off x="9342146" y="3583861"/>
            <a:ext cx="1457290" cy="2174355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99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4171235" y="1925975"/>
            <a:ext cx="3548002" cy="441731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1. HARDWARE</a:t>
            </a:r>
            <a:endParaRPr lang="es-ES" dirty="0"/>
          </a:p>
        </p:txBody>
      </p:sp>
      <p:sp>
        <p:nvSpPr>
          <p:cNvPr id="4" name="Rectángulo redondeado 3"/>
          <p:cNvSpPr/>
          <p:nvPr/>
        </p:nvSpPr>
        <p:spPr>
          <a:xfrm>
            <a:off x="4601634" y="5182275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PLATAFORMA</a:t>
            </a:r>
          </a:p>
        </p:txBody>
      </p:sp>
      <p:sp>
        <p:nvSpPr>
          <p:cNvPr id="14" name="Rectángulo redondeado 3"/>
          <p:cNvSpPr/>
          <p:nvPr/>
        </p:nvSpPr>
        <p:spPr>
          <a:xfrm>
            <a:off x="4603709" y="4082336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RECEPTOR</a:t>
            </a:r>
          </a:p>
        </p:txBody>
      </p:sp>
      <p:sp>
        <p:nvSpPr>
          <p:cNvPr id="15" name="Rectángulo redondeado 3"/>
          <p:cNvSpPr/>
          <p:nvPr/>
        </p:nvSpPr>
        <p:spPr>
          <a:xfrm>
            <a:off x="4601635" y="3062149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CAMARA</a:t>
            </a:r>
          </a:p>
        </p:txBody>
      </p:sp>
      <p:sp>
        <p:nvSpPr>
          <p:cNvPr id="16" name="Rectángulo redondeado 3"/>
          <p:cNvSpPr/>
          <p:nvPr/>
        </p:nvSpPr>
        <p:spPr>
          <a:xfrm>
            <a:off x="4634374" y="2030809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MODEM TRANSMISOR</a:t>
            </a:r>
          </a:p>
        </p:txBody>
      </p:sp>
      <p:sp>
        <p:nvSpPr>
          <p:cNvPr id="18" name="17 CuadroTexto"/>
          <p:cNvSpPr txBox="1"/>
          <p:nvPr/>
        </p:nvSpPr>
        <p:spPr>
          <a:xfrm>
            <a:off x="5100197" y="1472702"/>
            <a:ext cx="16900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smtClean="0">
                <a:solidFill>
                  <a:srgbClr val="0070C0"/>
                </a:solidFill>
              </a:rPr>
              <a:t>PROTOTIPO</a:t>
            </a:r>
            <a:endParaRPr lang="es-ES" sz="2000" b="1" dirty="0">
              <a:solidFill>
                <a:srgbClr val="0070C0"/>
              </a:solidFill>
            </a:endParaRPr>
          </a:p>
        </p:txBody>
      </p:sp>
      <p:pic>
        <p:nvPicPr>
          <p:cNvPr id="17" name="Imagen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15" r="11580" b="12468"/>
          <a:stretch/>
        </p:blipFill>
        <p:spPr>
          <a:xfrm rot="730320">
            <a:off x="9001627" y="2123466"/>
            <a:ext cx="1915064" cy="1832844"/>
          </a:xfrm>
          <a:prstGeom prst="rect">
            <a:avLst/>
          </a:prstGeom>
        </p:spPr>
      </p:pic>
      <p:pic>
        <p:nvPicPr>
          <p:cNvPr id="19" name="Imagen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10706">
            <a:off x="1439510" y="4786089"/>
            <a:ext cx="1612166" cy="1340481"/>
          </a:xfrm>
          <a:prstGeom prst="rect">
            <a:avLst/>
          </a:prstGeom>
        </p:spPr>
      </p:pic>
      <p:pic>
        <p:nvPicPr>
          <p:cNvPr id="21" name="20 Imagen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63" b="11623"/>
          <a:stretch/>
        </p:blipFill>
        <p:spPr>
          <a:xfrm>
            <a:off x="1576754" y="2893512"/>
            <a:ext cx="1382287" cy="1070084"/>
          </a:xfrm>
          <a:prstGeom prst="rect">
            <a:avLst/>
          </a:prstGeom>
        </p:spPr>
      </p:pic>
      <p:pic>
        <p:nvPicPr>
          <p:cNvPr id="13" name="12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8816" y="4852612"/>
            <a:ext cx="1917044" cy="1490678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9019851" y="1975386"/>
            <a:ext cx="188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smtClean="0"/>
              <a:t>GSM/GPRS</a:t>
            </a:r>
          </a:p>
          <a:p>
            <a:pPr algn="ctr"/>
            <a:r>
              <a:rPr lang="es-ES" dirty="0" smtClean="0"/>
              <a:t>SIM900</a:t>
            </a:r>
            <a:endParaRPr lang="es-ES" dirty="0"/>
          </a:p>
        </p:txBody>
      </p:sp>
      <p:sp>
        <p:nvSpPr>
          <p:cNvPr id="20" name="7 CuadroTexto"/>
          <p:cNvSpPr txBox="1"/>
          <p:nvPr/>
        </p:nvSpPr>
        <p:spPr>
          <a:xfrm>
            <a:off x="1648893" y="2329180"/>
            <a:ext cx="1348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LinkSprite</a:t>
            </a:r>
            <a:endParaRPr lang="es-ES" dirty="0" smtClean="0"/>
          </a:p>
          <a:p>
            <a:r>
              <a:rPr lang="es-ES" dirty="0" smtClean="0"/>
              <a:t>Sen11610</a:t>
            </a:r>
            <a:endParaRPr lang="es-ES" dirty="0"/>
          </a:p>
        </p:txBody>
      </p:sp>
      <p:sp>
        <p:nvSpPr>
          <p:cNvPr id="23" name="7 CuadroTexto"/>
          <p:cNvSpPr txBox="1"/>
          <p:nvPr/>
        </p:nvSpPr>
        <p:spPr>
          <a:xfrm>
            <a:off x="1813921" y="4344514"/>
            <a:ext cx="188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Skylab</a:t>
            </a:r>
            <a:endParaRPr lang="es-ES" dirty="0" smtClean="0"/>
          </a:p>
          <a:p>
            <a:r>
              <a:rPr lang="es-ES" dirty="0" smtClean="0"/>
              <a:t>SKM53</a:t>
            </a:r>
            <a:endParaRPr lang="es-ES" dirty="0"/>
          </a:p>
        </p:txBody>
      </p:sp>
      <p:sp>
        <p:nvSpPr>
          <p:cNvPr id="24" name="7 CuadroTexto"/>
          <p:cNvSpPr txBox="1"/>
          <p:nvPr/>
        </p:nvSpPr>
        <p:spPr>
          <a:xfrm>
            <a:off x="9453398" y="4275613"/>
            <a:ext cx="11634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Arduino</a:t>
            </a:r>
            <a:endParaRPr lang="es-ES" dirty="0" smtClean="0"/>
          </a:p>
          <a:p>
            <a:r>
              <a:rPr lang="es-ES" dirty="0" smtClean="0"/>
              <a:t>UNO R3</a:t>
            </a:r>
          </a:p>
        </p:txBody>
      </p:sp>
      <p:sp>
        <p:nvSpPr>
          <p:cNvPr id="33" name="Rectángulo redondeado 32"/>
          <p:cNvSpPr/>
          <p:nvPr/>
        </p:nvSpPr>
        <p:spPr>
          <a:xfrm>
            <a:off x="1453893" y="4344514"/>
            <a:ext cx="1628008" cy="1626670"/>
          </a:xfrm>
          <a:prstGeom prst="round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5" name="Rectángulo redondeado 34"/>
          <p:cNvSpPr/>
          <p:nvPr/>
        </p:nvSpPr>
        <p:spPr>
          <a:xfrm>
            <a:off x="8839960" y="4207015"/>
            <a:ext cx="2244696" cy="2136276"/>
          </a:xfrm>
          <a:prstGeom prst="round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Rectángulo redondeado 35"/>
          <p:cNvSpPr/>
          <p:nvPr/>
        </p:nvSpPr>
        <p:spPr>
          <a:xfrm>
            <a:off x="1453893" y="2336926"/>
            <a:ext cx="1628008" cy="1626670"/>
          </a:xfrm>
          <a:prstGeom prst="round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Rectángulo redondeado 36"/>
          <p:cNvSpPr/>
          <p:nvPr/>
        </p:nvSpPr>
        <p:spPr>
          <a:xfrm>
            <a:off x="8833670" y="1925975"/>
            <a:ext cx="2244696" cy="2136276"/>
          </a:xfrm>
          <a:prstGeom prst="roundRect">
            <a:avLst/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2" name="Conector recto de flecha 51"/>
          <p:cNvCxnSpPr>
            <a:stCxn id="35" idx="1"/>
            <a:endCxn id="4" idx="3"/>
          </p:cNvCxnSpPr>
          <p:nvPr/>
        </p:nvCxnSpPr>
        <p:spPr>
          <a:xfrm flipH="1">
            <a:off x="7340601" y="5275153"/>
            <a:ext cx="1499359" cy="382916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/>
          <p:cNvCxnSpPr>
            <a:stCxn id="37" idx="1"/>
          </p:cNvCxnSpPr>
          <p:nvPr/>
        </p:nvCxnSpPr>
        <p:spPr>
          <a:xfrm flipH="1" flipV="1">
            <a:off x="7373341" y="2586355"/>
            <a:ext cx="1460329" cy="407758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de flecha 57"/>
          <p:cNvCxnSpPr>
            <a:stCxn id="33" idx="3"/>
            <a:endCxn id="14" idx="1"/>
          </p:cNvCxnSpPr>
          <p:nvPr/>
        </p:nvCxnSpPr>
        <p:spPr>
          <a:xfrm flipV="1">
            <a:off x="3081901" y="4558130"/>
            <a:ext cx="1521808" cy="599719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de flecha 60"/>
          <p:cNvCxnSpPr>
            <a:stCxn id="36" idx="3"/>
            <a:endCxn id="15" idx="1"/>
          </p:cNvCxnSpPr>
          <p:nvPr/>
        </p:nvCxnSpPr>
        <p:spPr>
          <a:xfrm>
            <a:off x="3081901" y="3150261"/>
            <a:ext cx="1519734" cy="387682"/>
          </a:xfrm>
          <a:prstGeom prst="straightConnector1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4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0" grpId="0"/>
      <p:bldP spid="23" grpId="0"/>
      <p:bldP spid="24" grpId="0"/>
      <p:bldP spid="33" grpId="0" animBg="1"/>
      <p:bldP spid="35" grpId="0" animBg="1"/>
      <p:bldP spid="36" grpId="0" animBg="1"/>
      <p:bldP spid="3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ESQUEMA DE CONEXIÓN PROTOTIPO HARDWARE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20509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365" y="864892"/>
            <a:ext cx="6898888" cy="5165993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5148775" y="2532185"/>
            <a:ext cx="576775" cy="563819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Rectángulo redondeado 5"/>
          <p:cNvSpPr/>
          <p:nvPr/>
        </p:nvSpPr>
        <p:spPr>
          <a:xfrm>
            <a:off x="3894406" y="4262512"/>
            <a:ext cx="1577926" cy="999570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ángulo redondeado 6"/>
          <p:cNvSpPr/>
          <p:nvPr/>
        </p:nvSpPr>
        <p:spPr>
          <a:xfrm>
            <a:off x="6133514" y="4951828"/>
            <a:ext cx="872197" cy="1079057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 redondeado 7"/>
          <p:cNvSpPr/>
          <p:nvPr/>
        </p:nvSpPr>
        <p:spPr>
          <a:xfrm>
            <a:off x="5928710" y="2686928"/>
            <a:ext cx="872197" cy="829995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redondeado 8"/>
          <p:cNvSpPr/>
          <p:nvPr/>
        </p:nvSpPr>
        <p:spPr>
          <a:xfrm>
            <a:off x="7004067" y="2686928"/>
            <a:ext cx="198591" cy="1007919"/>
          </a:xfrm>
          <a:prstGeom prst="roundRect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Estrella de 5 puntas 9"/>
          <p:cNvSpPr/>
          <p:nvPr/>
        </p:nvSpPr>
        <p:spPr>
          <a:xfrm>
            <a:off x="6796766" y="2998086"/>
            <a:ext cx="184524" cy="195836"/>
          </a:xfrm>
          <a:prstGeom prst="star5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6" name="Conector recto 15"/>
          <p:cNvCxnSpPr>
            <a:stCxn id="10" idx="0"/>
          </p:cNvCxnSpPr>
          <p:nvPr/>
        </p:nvCxnSpPr>
        <p:spPr>
          <a:xfrm flipV="1">
            <a:off x="6889028" y="2264898"/>
            <a:ext cx="0" cy="7331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/>
          <p:cNvCxnSpPr/>
          <p:nvPr/>
        </p:nvCxnSpPr>
        <p:spPr>
          <a:xfrm>
            <a:off x="6889028" y="2264898"/>
            <a:ext cx="119989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/>
          <p:nvPr/>
        </p:nvCxnSpPr>
        <p:spPr>
          <a:xfrm flipH="1">
            <a:off x="3963804" y="2800583"/>
            <a:ext cx="1190969" cy="1351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/>
          <p:cNvCxnSpPr>
            <a:stCxn id="6" idx="2"/>
          </p:cNvCxnSpPr>
          <p:nvPr/>
        </p:nvCxnSpPr>
        <p:spPr>
          <a:xfrm flipH="1">
            <a:off x="3963804" y="5262082"/>
            <a:ext cx="719565" cy="3509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/>
          <p:cNvCxnSpPr/>
          <p:nvPr/>
        </p:nvCxnSpPr>
        <p:spPr>
          <a:xfrm>
            <a:off x="6987118" y="5491356"/>
            <a:ext cx="679775" cy="33668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>
            <a:stCxn id="8" idx="2"/>
          </p:cNvCxnSpPr>
          <p:nvPr/>
        </p:nvCxnSpPr>
        <p:spPr>
          <a:xfrm flipH="1">
            <a:off x="6364808" y="3516923"/>
            <a:ext cx="1" cy="91606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/>
          <p:cNvCxnSpPr>
            <a:stCxn id="9" idx="3"/>
          </p:cNvCxnSpPr>
          <p:nvPr/>
        </p:nvCxnSpPr>
        <p:spPr>
          <a:xfrm flipV="1">
            <a:off x="7202658" y="3190887"/>
            <a:ext cx="1153551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uadroTexto 41"/>
          <p:cNvSpPr txBox="1"/>
          <p:nvPr/>
        </p:nvSpPr>
        <p:spPr>
          <a:xfrm>
            <a:off x="1436403" y="2446826"/>
            <a:ext cx="2693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 smtClean="0">
                <a:solidFill>
                  <a:schemeClr val="accent1">
                    <a:lumMod val="75000"/>
                  </a:schemeClr>
                </a:solidFill>
              </a:rPr>
              <a:t>Modulo GPS + Antena GPS</a:t>
            </a:r>
            <a:endParaRPr lang="es-PE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3" name="CuadroTexto 42"/>
          <p:cNvSpPr txBox="1"/>
          <p:nvPr/>
        </p:nvSpPr>
        <p:spPr>
          <a:xfrm>
            <a:off x="7947178" y="1940458"/>
            <a:ext cx="2159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accent1">
                    <a:lumMod val="75000"/>
                  </a:schemeClr>
                </a:solidFill>
              </a:rPr>
              <a:t>Microcontrolador</a:t>
            </a:r>
          </a:p>
        </p:txBody>
      </p:sp>
      <p:sp>
        <p:nvSpPr>
          <p:cNvPr id="44" name="CuadroTexto 43"/>
          <p:cNvSpPr txBox="1"/>
          <p:nvPr/>
        </p:nvSpPr>
        <p:spPr>
          <a:xfrm>
            <a:off x="8250241" y="2911338"/>
            <a:ext cx="1448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accent1">
                    <a:lumMod val="75000"/>
                  </a:schemeClr>
                </a:solidFill>
              </a:rPr>
              <a:t>Antena GSM</a:t>
            </a:r>
          </a:p>
        </p:txBody>
      </p:sp>
      <p:sp>
        <p:nvSpPr>
          <p:cNvPr id="45" name="CuadroTexto 44"/>
          <p:cNvSpPr txBox="1"/>
          <p:nvPr/>
        </p:nvSpPr>
        <p:spPr>
          <a:xfrm>
            <a:off x="5753686" y="4402069"/>
            <a:ext cx="1448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accent1">
                    <a:lumMod val="75000"/>
                  </a:schemeClr>
                </a:solidFill>
              </a:rPr>
              <a:t>Modulo GSM</a:t>
            </a:r>
          </a:p>
        </p:txBody>
      </p:sp>
      <p:sp>
        <p:nvSpPr>
          <p:cNvPr id="46" name="CuadroTexto 45"/>
          <p:cNvSpPr txBox="1"/>
          <p:nvPr/>
        </p:nvSpPr>
        <p:spPr>
          <a:xfrm>
            <a:off x="3110315" y="5562465"/>
            <a:ext cx="2038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accent1">
                    <a:lumMod val="75000"/>
                  </a:schemeClr>
                </a:solidFill>
              </a:rPr>
              <a:t>Sensor Magnético</a:t>
            </a:r>
          </a:p>
        </p:txBody>
      </p:sp>
      <p:sp>
        <p:nvSpPr>
          <p:cNvPr id="47" name="CuadroTexto 46"/>
          <p:cNvSpPr txBox="1"/>
          <p:nvPr/>
        </p:nvSpPr>
        <p:spPr>
          <a:xfrm>
            <a:off x="7666893" y="5569220"/>
            <a:ext cx="2038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>
                <a:solidFill>
                  <a:schemeClr val="accent1">
                    <a:lumMod val="75000"/>
                  </a:schemeClr>
                </a:solidFill>
              </a:rPr>
              <a:t>Cámara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481263" y="457200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 smtClean="0">
                <a:solidFill>
                  <a:srgbClr val="FF0000"/>
                </a:solidFill>
              </a:rPr>
              <a:t>MEJORAR</a:t>
            </a:r>
            <a:endParaRPr lang="es-P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43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606833" y="2066440"/>
            <a:ext cx="3556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s-PE" sz="4000" dirty="0" smtClean="0"/>
              <a:t>HARDWARE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851072" y="2131754"/>
            <a:ext cx="2539293" cy="242391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rgbClr val="00B050"/>
                </a:solidFill>
              </a:rPr>
              <a:t>Prototipo</a:t>
            </a:r>
          </a:p>
        </p:txBody>
      </p:sp>
      <p:sp>
        <p:nvSpPr>
          <p:cNvPr id="2" name="1 CuadroTexto"/>
          <p:cNvSpPr txBox="1"/>
          <p:nvPr/>
        </p:nvSpPr>
        <p:spPr>
          <a:xfrm>
            <a:off x="4607554" y="2774326"/>
            <a:ext cx="55816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s-ES" sz="24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s-ES" sz="2400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s-ES" sz="2400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s-ES" sz="2400" dirty="0" smtClean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CuadroTexto 4"/>
          <p:cNvSpPr txBox="1"/>
          <p:nvPr/>
        </p:nvSpPr>
        <p:spPr>
          <a:xfrm>
            <a:off x="4606833" y="2774326"/>
            <a:ext cx="624735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/>
              <a:t>Diseño MODULAR: Escalable</a:t>
            </a:r>
            <a:endParaRPr lang="es-PE" sz="2400" dirty="0"/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/>
              <a:t>Basado en un MICROCONTROLADOR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/>
              <a:t>Receptor GPS y transmisor GSM/GPRS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/>
              <a:t>CAMARA IR y sensor magnético</a:t>
            </a:r>
          </a:p>
          <a:p>
            <a:pPr marL="571500" indent="-571500">
              <a:buFont typeface="Arial" pitchFamily="34" charset="0"/>
              <a:buChar char="•"/>
            </a:pP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2341241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2. Programación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878286" y="4849585"/>
            <a:ext cx="4539344" cy="1327377"/>
          </a:xfrm>
        </p:spPr>
        <p:txBody>
          <a:bodyPr>
            <a:normAutofit lnSpcReduction="10000"/>
          </a:bodyPr>
          <a:lstStyle/>
          <a:p>
            <a:r>
              <a:rPr lang="es-ES" dirty="0"/>
              <a:t>Entorno de </a:t>
            </a:r>
            <a:r>
              <a:rPr lang="es-ES" dirty="0" smtClean="0"/>
              <a:t>desarrollo</a:t>
            </a:r>
          </a:p>
          <a:p>
            <a:r>
              <a:rPr lang="es-ES" dirty="0" smtClean="0"/>
              <a:t>Programación del microcontrolador </a:t>
            </a:r>
            <a:r>
              <a:rPr lang="es-ES" dirty="0" err="1" smtClean="0"/>
              <a:t>Atmel</a:t>
            </a:r>
            <a:endParaRPr lang="es-E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77" t="13194" r="18921" b="9259"/>
          <a:stretch/>
        </p:blipFill>
        <p:spPr bwMode="auto">
          <a:xfrm>
            <a:off x="1592164" y="1861458"/>
            <a:ext cx="3718854" cy="4433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6074228" y="1861458"/>
            <a:ext cx="34827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 smtClean="0"/>
              <a:t>void</a:t>
            </a:r>
            <a:r>
              <a:rPr lang="es-ES" dirty="0" smtClean="0"/>
              <a:t> </a:t>
            </a:r>
            <a:r>
              <a:rPr lang="es-ES" dirty="0" err="1" smtClean="0"/>
              <a:t>setup</a:t>
            </a:r>
            <a:r>
              <a:rPr lang="es-ES" dirty="0" smtClean="0"/>
              <a:t>()</a:t>
            </a:r>
          </a:p>
          <a:p>
            <a:r>
              <a:rPr lang="es-ES" dirty="0" err="1" smtClean="0"/>
              <a:t>Funcion</a:t>
            </a:r>
            <a:r>
              <a:rPr lang="es-ES" dirty="0" smtClean="0"/>
              <a:t> inicial</a:t>
            </a:r>
          </a:p>
          <a:p>
            <a:r>
              <a:rPr lang="es-ES" dirty="0" smtClean="0"/>
              <a:t>Inicia estados I/Os, puertos, etc.</a:t>
            </a:r>
          </a:p>
          <a:p>
            <a:r>
              <a:rPr lang="es-ES" dirty="0" smtClean="0"/>
              <a:t>Corre una sola vez</a:t>
            </a:r>
            <a:endParaRPr lang="es-ES" dirty="0"/>
          </a:p>
        </p:txBody>
      </p:sp>
      <p:sp>
        <p:nvSpPr>
          <p:cNvPr id="6" name="5 CuadroTexto"/>
          <p:cNvSpPr txBox="1"/>
          <p:nvPr/>
        </p:nvSpPr>
        <p:spPr>
          <a:xfrm>
            <a:off x="6074228" y="3265715"/>
            <a:ext cx="32880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 smtClean="0"/>
              <a:t>void</a:t>
            </a:r>
            <a:r>
              <a:rPr lang="es-ES" dirty="0" smtClean="0"/>
              <a:t> </a:t>
            </a:r>
            <a:r>
              <a:rPr lang="es-ES" dirty="0" err="1" smtClean="0"/>
              <a:t>loop</a:t>
            </a:r>
            <a:r>
              <a:rPr lang="es-ES" dirty="0" smtClean="0"/>
              <a:t>()</a:t>
            </a:r>
          </a:p>
          <a:p>
            <a:r>
              <a:rPr lang="es-ES" dirty="0" err="1" smtClean="0"/>
              <a:t>Funcion</a:t>
            </a:r>
            <a:r>
              <a:rPr lang="es-ES" dirty="0" smtClean="0"/>
              <a:t> principal</a:t>
            </a:r>
          </a:p>
          <a:p>
            <a:r>
              <a:rPr lang="es-ES" dirty="0" smtClean="0"/>
              <a:t>Se ejecuta cíclicamente sin fin</a:t>
            </a:r>
          </a:p>
          <a:p>
            <a:endParaRPr lang="es-ES" dirty="0" smtClean="0"/>
          </a:p>
        </p:txBody>
      </p:sp>
    </p:spTree>
    <p:extLst>
      <p:ext uri="{BB962C8B-B14F-4D97-AF65-F5344CB8AC3E}">
        <p14:creationId xmlns:p14="http://schemas.microsoft.com/office/powerpoint/2010/main" val="284049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Función “</a:t>
            </a:r>
            <a:r>
              <a:rPr lang="es-ES" dirty="0" err="1" smtClean="0"/>
              <a:t>statusButton</a:t>
            </a:r>
            <a:r>
              <a:rPr lang="es-ES" dirty="0" smtClean="0"/>
              <a:t>”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199" y="1825625"/>
            <a:ext cx="5343939" cy="4351338"/>
          </a:xfrm>
        </p:spPr>
        <p:txBody>
          <a:bodyPr/>
          <a:lstStyle/>
          <a:p>
            <a:r>
              <a:rPr lang="es-PE" dirty="0" smtClean="0"/>
              <a:t>Lee el estado del sensor magnético</a:t>
            </a:r>
          </a:p>
          <a:p>
            <a:r>
              <a:rPr lang="es-PE" dirty="0" smtClean="0"/>
              <a:t>Si el estado es verdadero, inicia la secuencia</a:t>
            </a:r>
          </a:p>
          <a:p>
            <a:pPr lvl="1"/>
            <a:r>
              <a:rPr lang="es-PE" dirty="0" smtClean="0"/>
              <a:t>Verifica si esta conectado a la red GSM</a:t>
            </a:r>
          </a:p>
          <a:p>
            <a:pPr lvl="1"/>
            <a:r>
              <a:rPr lang="es-PE" dirty="0" smtClean="0"/>
              <a:t>Si es verdadera la conexión GSM, inicia la captura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94108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Función “</a:t>
            </a:r>
            <a:r>
              <a:rPr lang="es-PE" dirty="0" err="1" smtClean="0"/>
              <a:t>gsmSerialAvailable</a:t>
            </a:r>
            <a:r>
              <a:rPr lang="es-PE" dirty="0" smtClean="0"/>
              <a:t>”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4906617" cy="4351338"/>
          </a:xfrm>
        </p:spPr>
        <p:txBody>
          <a:bodyPr/>
          <a:lstStyle/>
          <a:p>
            <a:r>
              <a:rPr lang="es-PE" dirty="0" smtClean="0"/>
              <a:t>Lee datos seriales del módulo GSM</a:t>
            </a:r>
          </a:p>
          <a:p>
            <a:r>
              <a:rPr lang="es-PE" dirty="0" smtClean="0"/>
              <a:t>Datos = “comando”</a:t>
            </a:r>
          </a:p>
          <a:p>
            <a:r>
              <a:rPr lang="es-PE" dirty="0" smtClean="0"/>
              <a:t>Inicia la secuencia</a:t>
            </a:r>
          </a:p>
          <a:p>
            <a:pPr lvl="1"/>
            <a:r>
              <a:rPr lang="es-PE" dirty="0"/>
              <a:t>Verifica si esta conectado a la red GSM</a:t>
            </a:r>
          </a:p>
          <a:p>
            <a:pPr lvl="1"/>
            <a:r>
              <a:rPr lang="es-PE" dirty="0"/>
              <a:t>Si es verdadera la conexión GSM, inicia la </a:t>
            </a:r>
            <a:r>
              <a:rPr lang="es-PE" dirty="0" smtClean="0"/>
              <a:t>captura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78082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Función “</a:t>
            </a:r>
            <a:r>
              <a:rPr lang="es-PE" dirty="0" err="1" smtClean="0"/>
              <a:t>sendPhoto</a:t>
            </a:r>
            <a:r>
              <a:rPr lang="es-PE" dirty="0" smtClean="0"/>
              <a:t>”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5483087" cy="4351338"/>
          </a:xfrm>
        </p:spPr>
        <p:txBody>
          <a:bodyPr/>
          <a:lstStyle/>
          <a:p>
            <a:r>
              <a:rPr lang="es-PE" dirty="0" smtClean="0"/>
              <a:t>Enviar comando serial a la cámara</a:t>
            </a:r>
          </a:p>
          <a:p>
            <a:r>
              <a:rPr lang="es-PE" dirty="0" smtClean="0"/>
              <a:t>Lee datos de imagen de la cámara</a:t>
            </a:r>
          </a:p>
          <a:p>
            <a:r>
              <a:rPr lang="es-PE" dirty="0" smtClean="0"/>
              <a:t>Envía los datos de imagen al servidor</a:t>
            </a:r>
          </a:p>
          <a:p>
            <a:r>
              <a:rPr lang="es-PE" dirty="0" smtClean="0"/>
              <a:t>Los datos son enviados en tramas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041244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Diagrama de flujo general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884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606833" y="2066440"/>
            <a:ext cx="50289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4000" dirty="0" smtClean="0"/>
              <a:t>2. PROGRAMACION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851072" y="2131754"/>
            <a:ext cx="2539293" cy="242391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rgbClr val="00B050"/>
                </a:solidFill>
              </a:rPr>
              <a:t>Prototipo</a:t>
            </a:r>
          </a:p>
        </p:txBody>
      </p:sp>
      <p:sp>
        <p:nvSpPr>
          <p:cNvPr id="2" name="1 CuadroTexto"/>
          <p:cNvSpPr txBox="1"/>
          <p:nvPr/>
        </p:nvSpPr>
        <p:spPr>
          <a:xfrm>
            <a:off x="4607554" y="2774326"/>
            <a:ext cx="64312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s-ES" sz="2400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s-ES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s-ES" sz="2400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s-ES" sz="2400" dirty="0" smtClean="0">
              <a:solidFill>
                <a:schemeClr val="bg1">
                  <a:lumMod val="65000"/>
                </a:schemeClr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s-ES" sz="2400" dirty="0" smtClean="0">
                <a:solidFill>
                  <a:schemeClr val="bg1">
                    <a:lumMod val="65000"/>
                  </a:schemeClr>
                </a:solidFill>
              </a:rPr>
              <a:t>  </a:t>
            </a:r>
          </a:p>
        </p:txBody>
      </p:sp>
      <p:sp>
        <p:nvSpPr>
          <p:cNvPr id="4" name="CuadroTexto 4"/>
          <p:cNvSpPr txBox="1"/>
          <p:nvPr/>
        </p:nvSpPr>
        <p:spPr>
          <a:xfrm>
            <a:off x="4606834" y="2774326"/>
            <a:ext cx="66840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/>
              <a:t>Basado en dos funciones principales: </a:t>
            </a:r>
            <a:r>
              <a:rPr lang="es-PE" sz="2400" dirty="0" err="1" smtClean="0"/>
              <a:t>setup</a:t>
            </a:r>
            <a:r>
              <a:rPr lang="es-PE" sz="2400" dirty="0" smtClean="0"/>
              <a:t> y </a:t>
            </a:r>
            <a:r>
              <a:rPr lang="es-PE" sz="2400" dirty="0" err="1" smtClean="0"/>
              <a:t>loop</a:t>
            </a:r>
            <a:endParaRPr lang="es-PE" sz="2400" dirty="0" smtClean="0"/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 err="1" smtClean="0"/>
              <a:t>Funcion</a:t>
            </a:r>
            <a:r>
              <a:rPr lang="es-PE" sz="2400" dirty="0" smtClean="0"/>
              <a:t> “</a:t>
            </a:r>
            <a:r>
              <a:rPr lang="es-PE" sz="2400" dirty="0" err="1" smtClean="0"/>
              <a:t>statusButton</a:t>
            </a:r>
            <a:r>
              <a:rPr lang="es-PE" sz="2400" dirty="0" smtClean="0"/>
              <a:t>”: lee estado del sensor magnético</a:t>
            </a:r>
            <a:endParaRPr lang="es-PE" sz="2400" dirty="0"/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 err="1" smtClean="0"/>
              <a:t>Funcion</a:t>
            </a:r>
            <a:r>
              <a:rPr lang="es-PE" sz="2400" dirty="0" smtClean="0"/>
              <a:t> “</a:t>
            </a:r>
            <a:r>
              <a:rPr lang="es-PE" sz="2400" dirty="0" err="1" smtClean="0"/>
              <a:t>serialGsmAvailable</a:t>
            </a:r>
            <a:r>
              <a:rPr lang="es-PE" sz="2400" dirty="0" smtClean="0"/>
              <a:t>”: lee comando serial del módulo GSM</a:t>
            </a:r>
            <a:endParaRPr lang="es-PE" sz="2400" dirty="0"/>
          </a:p>
          <a:p>
            <a:pPr marL="571500" indent="-571500">
              <a:buFont typeface="Arial" pitchFamily="34" charset="0"/>
              <a:buChar char="•"/>
            </a:pPr>
            <a:r>
              <a:rPr lang="es-PE" sz="2400" dirty="0" smtClean="0"/>
              <a:t>Función “</a:t>
            </a:r>
            <a:r>
              <a:rPr lang="es-PE" sz="2400" dirty="0" err="1" smtClean="0"/>
              <a:t>sendPhoto</a:t>
            </a:r>
            <a:r>
              <a:rPr lang="es-PE" sz="2400" dirty="0" smtClean="0"/>
              <a:t>”: lee y envía datos de imagen.</a:t>
            </a:r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375150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939342" y="2360362"/>
            <a:ext cx="557941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s-PE" sz="4000" dirty="0" smtClean="0"/>
              <a:t>HARDWARE</a:t>
            </a:r>
          </a:p>
          <a:p>
            <a:pPr marL="342900" indent="-342900">
              <a:buAutoNum type="arabicPeriod"/>
            </a:pPr>
            <a:r>
              <a:rPr lang="es-PE" sz="4000" dirty="0" smtClean="0"/>
              <a:t>CONFIGURACION Y </a:t>
            </a:r>
          </a:p>
          <a:p>
            <a:r>
              <a:rPr lang="es-PE" sz="4000" dirty="0"/>
              <a:t> </a:t>
            </a:r>
            <a:r>
              <a:rPr lang="es-PE" sz="4000" dirty="0" smtClean="0"/>
              <a:t>  PROGRAMACION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2090057" y="2131754"/>
            <a:ext cx="2539293" cy="242391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rgbClr val="0070C0"/>
                </a:solidFill>
              </a:rPr>
              <a:t>Servidor</a:t>
            </a:r>
          </a:p>
        </p:txBody>
      </p:sp>
    </p:spTree>
    <p:extLst>
      <p:ext uri="{BB962C8B-B14F-4D97-AF65-F5344CB8AC3E}">
        <p14:creationId xmlns:p14="http://schemas.microsoft.com/office/powerpoint/2010/main" val="941043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1</a:t>
            </a:r>
            <a:r>
              <a:rPr lang="es-PE" dirty="0"/>
              <a:t>. HARDWARE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6 Rectángulo redondeado"/>
          <p:cNvSpPr/>
          <p:nvPr/>
        </p:nvSpPr>
        <p:spPr>
          <a:xfrm>
            <a:off x="3256817" y="2409676"/>
            <a:ext cx="5047014" cy="3482463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redondeado 4"/>
          <p:cNvSpPr/>
          <p:nvPr/>
        </p:nvSpPr>
        <p:spPr>
          <a:xfrm>
            <a:off x="3801717" y="4224166"/>
            <a:ext cx="3101294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ROUTER</a:t>
            </a:r>
          </a:p>
        </p:txBody>
      </p:sp>
      <p:sp>
        <p:nvSpPr>
          <p:cNvPr id="6" name="Rectángulo redondeado 3"/>
          <p:cNvSpPr/>
          <p:nvPr/>
        </p:nvSpPr>
        <p:spPr>
          <a:xfrm>
            <a:off x="5020428" y="3164321"/>
            <a:ext cx="2738967" cy="951588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  <a:scene3d>
            <a:camera prst="perspectiveRelaxedModerately"/>
            <a:lightRig rig="threePt" dir="t"/>
          </a:scene3d>
          <a:sp3d extrusionH="63500">
            <a:bevelT w="107950"/>
            <a:bevelB/>
            <a:extrusionClr>
              <a:schemeClr val="bg1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dirty="0" smtClean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9" name="17 CuadroTexto"/>
          <p:cNvSpPr txBox="1"/>
          <p:nvPr/>
        </p:nvSpPr>
        <p:spPr>
          <a:xfrm>
            <a:off x="5020428" y="1825625"/>
            <a:ext cx="1521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 smtClean="0">
                <a:solidFill>
                  <a:srgbClr val="0070C0"/>
                </a:solidFill>
              </a:rPr>
              <a:t>SERVIDOR</a:t>
            </a:r>
            <a:endParaRPr lang="es-ES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7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DESCRIPCION DEL ROUTER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71482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DESCRIPCION DE LA PC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61745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IMAGEN DEL ROUTER CONECTADO A LA PC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9755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939342" y="2360362"/>
            <a:ext cx="358322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s-PE" sz="4000" dirty="0" smtClean="0"/>
              <a:t>HARDWARE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PE" sz="4000" dirty="0"/>
              <a:t> </a:t>
            </a:r>
            <a:endParaRPr lang="es-PE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PE" sz="4000" dirty="0"/>
              <a:t> </a:t>
            </a:r>
            <a:endParaRPr lang="es-PE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PE" sz="4000" dirty="0"/>
              <a:t> </a:t>
            </a:r>
            <a:endParaRPr lang="es-PE" sz="4000" dirty="0" smtClean="0"/>
          </a:p>
        </p:txBody>
      </p:sp>
      <p:sp>
        <p:nvSpPr>
          <p:cNvPr id="15" name="14 Rectángulo redondeado"/>
          <p:cNvSpPr/>
          <p:nvPr/>
        </p:nvSpPr>
        <p:spPr>
          <a:xfrm>
            <a:off x="2090057" y="2131754"/>
            <a:ext cx="2539293" cy="242391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rgbClr val="0070C0"/>
                </a:solidFill>
              </a:rPr>
              <a:t>Servidor</a:t>
            </a:r>
          </a:p>
        </p:txBody>
      </p:sp>
    </p:spTree>
    <p:extLst>
      <p:ext uri="{BB962C8B-B14F-4D97-AF65-F5344CB8AC3E}">
        <p14:creationId xmlns:p14="http://schemas.microsoft.com/office/powerpoint/2010/main" val="3637657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2. CONFIGURACION Y PROGRAMACION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Describir la configuración del </a:t>
            </a:r>
            <a:r>
              <a:rPr lang="es-PE" dirty="0" err="1" smtClean="0"/>
              <a:t>router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672977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Describir la programación en java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553266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4939342" y="2360362"/>
            <a:ext cx="5722079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4000" dirty="0" smtClean="0"/>
              <a:t>2. CONFIGURACION Y </a:t>
            </a:r>
          </a:p>
          <a:p>
            <a:r>
              <a:rPr lang="es-PE" sz="4000" dirty="0" smtClean="0"/>
              <a:t>PROGRAMACION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PE" sz="4000" dirty="0"/>
              <a:t> </a:t>
            </a:r>
            <a:endParaRPr lang="es-PE" sz="40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PE" sz="4000" dirty="0" smtClean="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PE" sz="4000" dirty="0"/>
              <a:t> </a:t>
            </a:r>
            <a:r>
              <a:rPr lang="es-PE" sz="4000" dirty="0" smtClean="0"/>
              <a:t> 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2090057" y="2131754"/>
            <a:ext cx="2539293" cy="2423916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 smtClean="0">
                <a:solidFill>
                  <a:srgbClr val="0070C0"/>
                </a:solidFill>
              </a:rPr>
              <a:t>Servidor</a:t>
            </a:r>
          </a:p>
        </p:txBody>
      </p:sp>
    </p:spTree>
    <p:extLst>
      <p:ext uri="{BB962C8B-B14F-4D97-AF65-F5344CB8AC3E}">
        <p14:creationId xmlns:p14="http://schemas.microsoft.com/office/powerpoint/2010/main" val="123269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FUNCIONAMIENTO</a:t>
            </a:r>
            <a:endParaRPr lang="es-PE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5696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DESCRIPCION DE TODO EL SISTEMA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943067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97" y="365125"/>
            <a:ext cx="11919605" cy="5860473"/>
          </a:xfrm>
        </p:spPr>
      </p:pic>
    </p:spTree>
    <p:extLst>
      <p:ext uri="{BB962C8B-B14F-4D97-AF65-F5344CB8AC3E}">
        <p14:creationId xmlns:p14="http://schemas.microsoft.com/office/powerpoint/2010/main" val="3666778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DISEÑO FINAL</a:t>
            </a:r>
            <a:endParaRPr lang="es-PE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45931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VISTAS EN 3D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411058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ejor Presentacion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4459</TotalTime>
  <Words>568</Words>
  <Application>Microsoft Office PowerPoint</Application>
  <PresentationFormat>Panorámica</PresentationFormat>
  <Paragraphs>178</Paragraphs>
  <Slides>38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2" baseType="lpstr">
      <vt:lpstr>Arial</vt:lpstr>
      <vt:lpstr>Helvetica</vt:lpstr>
      <vt:lpstr>Wingdings</vt:lpstr>
      <vt:lpstr>Tema de Office</vt:lpstr>
      <vt:lpstr>Telelocalización y Captura de Imágenes</vt:lpstr>
      <vt:lpstr>Telelocalización y Captura de Imágenes</vt:lpstr>
      <vt:lpstr>Telelocalización y Captura de Imágenes</vt:lpstr>
      <vt:lpstr>OBJETIVOS</vt:lpstr>
      <vt:lpstr>IMPORTANCIA</vt:lpstr>
      <vt:lpstr>PROBLEMATICA</vt:lpstr>
      <vt:lpstr>Presentación de PowerPoint</vt:lpstr>
      <vt:lpstr>Presentación de PowerPoint</vt:lpstr>
      <vt:lpstr>1. HARDWARE</vt:lpstr>
      <vt:lpstr>Presentación de PowerPoint</vt:lpstr>
      <vt:lpstr>1. HARDWARE</vt:lpstr>
      <vt:lpstr>Presentación de PowerPoint</vt:lpstr>
      <vt:lpstr>1. HARDWARE</vt:lpstr>
      <vt:lpstr>1. HARDWARE</vt:lpstr>
      <vt:lpstr>1. HARDWARE</vt:lpstr>
      <vt:lpstr>Presentación de PowerPoint</vt:lpstr>
      <vt:lpstr>Presentación de PowerPoint</vt:lpstr>
      <vt:lpstr>Presentación de PowerPoint</vt:lpstr>
      <vt:lpstr>2. Programación</vt:lpstr>
      <vt:lpstr>Función “statusButton”</vt:lpstr>
      <vt:lpstr>Función “gsmSerialAvailable”</vt:lpstr>
      <vt:lpstr>Función “sendPhoto”</vt:lpstr>
      <vt:lpstr>Diagrama de flujo general</vt:lpstr>
      <vt:lpstr>Presentación de PowerPoint</vt:lpstr>
      <vt:lpstr>Presentación de PowerPoint</vt:lpstr>
      <vt:lpstr>1. HARDWARE</vt:lpstr>
      <vt:lpstr>Presentación de PowerPoint</vt:lpstr>
      <vt:lpstr>Presentación de PowerPoint</vt:lpstr>
      <vt:lpstr>Presentación de PowerPoint</vt:lpstr>
      <vt:lpstr>Presentación de PowerPoint</vt:lpstr>
      <vt:lpstr>2. CONFIGURACION Y PROGRAMACION</vt:lpstr>
      <vt:lpstr>Presentación de PowerPoint</vt:lpstr>
      <vt:lpstr>Presentación de PowerPoint</vt:lpstr>
      <vt:lpstr>FUNCIONAMIENTO</vt:lpstr>
      <vt:lpstr>Presentación de PowerPoint</vt:lpstr>
      <vt:lpstr>Presentación de PowerPoint</vt:lpstr>
      <vt:lpstr>DISEÑO FINAL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Telelocalización y Captura de Imágenes</dc:title>
  <dc:creator>moniyabel</dc:creator>
  <cp:lastModifiedBy>moniyabel</cp:lastModifiedBy>
  <cp:revision>162</cp:revision>
  <dcterms:created xsi:type="dcterms:W3CDTF">2015-11-22T04:05:58Z</dcterms:created>
  <dcterms:modified xsi:type="dcterms:W3CDTF">2015-12-12T22:21:21Z</dcterms:modified>
</cp:coreProperties>
</file>